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2" r:id="rId2"/>
    <p:sldId id="263" r:id="rId3"/>
    <p:sldId id="264" r:id="rId4"/>
    <p:sldId id="265" r:id="rId5"/>
    <p:sldId id="266" r:id="rId6"/>
    <p:sldId id="267" r:id="rId7"/>
    <p:sldId id="276" r:id="rId8"/>
    <p:sldId id="269" r:id="rId9"/>
    <p:sldId id="293" r:id="rId10"/>
    <p:sldId id="294" r:id="rId11"/>
    <p:sldId id="279" r:id="rId12"/>
    <p:sldId id="295" r:id="rId1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04" d="100"/>
          <a:sy n="104" d="100"/>
        </p:scale>
        <p:origin x="216" y="48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7999999999998E-2"/>
          <c:y val="0.12693499999999999"/>
          <c:w val="0.92608599999999996"/>
          <c:h val="0.6674710000000000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Исследования позвоночника</c:v>
                </c:pt>
              </c:strCache>
            </c:strRef>
          </c:tx>
          <c:spPr>
            <a:prstGeom prst="rect">
              <a:avLst/>
            </a:prstGeom>
            <a:gradFill>
              <a:gsLst>
                <a:gs pos="0">
                  <a:schemeClr val="accent1">
                    <a:lumMod val="110000"/>
                    <a:satMod val="105000"/>
                    <a:tint val="67000"/>
                  </a:schemeClr>
                </a:gs>
                <a:gs pos="50000">
                  <a:schemeClr val="accent1">
                    <a:lumMod val="105000"/>
                    <a:satMod val="103000"/>
                    <a:tint val="73000"/>
                  </a:schemeClr>
                </a:gs>
                <a:gs pos="100000">
                  <a:schemeClr val="accent1">
                    <a:lumMod val="105000"/>
                    <a:satMod val="109000"/>
                    <a:tint val="81000"/>
                  </a:schemeClr>
                </a:gs>
              </a:gsLst>
              <a:lin ang="5400000" scaled="0"/>
            </a:gradFill>
            <a:ln w="9525" cap="flat" cmpd="sng" algn="ctr">
              <a:solidFill>
                <a:schemeClr val="accent1">
                  <a:shade val="95000"/>
                </a:schemeClr>
              </a:solidFill>
              <a:round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Ошибки в исследованиях</c:v>
                </c:pt>
              </c:strCache>
            </c:strRef>
          </c:cat>
          <c:val>
            <c:numRef>
              <c:f>Лист1!$B$2</c:f>
              <c:numCache>
                <c:formatCode>0.00%</c:formatCode>
                <c:ptCount val="1"/>
                <c:pt idx="0">
                  <c:v>0.43099999999999999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35-47D2-BF26-0B26516663FF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Исследования проксимального отдела бедра</c:v>
                </c:pt>
              </c:strCache>
            </c:strRef>
          </c:tx>
          <c:spPr>
            <a:prstGeom prst="rect">
              <a:avLst/>
            </a:prstGeom>
            <a:gradFill>
              <a:gsLst>
                <a:gs pos="0">
                  <a:schemeClr val="accent2">
                    <a:lumMod val="110000"/>
                    <a:satMod val="105000"/>
                    <a:tint val="67000"/>
                  </a:schemeClr>
                </a:gs>
                <a:gs pos="50000">
                  <a:schemeClr val="accent2">
                    <a:lumMod val="105000"/>
                    <a:satMod val="103000"/>
                    <a:tint val="73000"/>
                  </a:schemeClr>
                </a:gs>
                <a:gs pos="100000">
                  <a:schemeClr val="accent2">
                    <a:lumMod val="105000"/>
                    <a:satMod val="109000"/>
                    <a:tint val="81000"/>
                  </a:schemeClr>
                </a:gs>
              </a:gsLst>
              <a:lin ang="5400000" scaled="0"/>
            </a:gradFill>
            <a:ln w="9525" cap="flat" cmpd="sng" algn="ctr">
              <a:solidFill>
                <a:schemeClr val="accent2">
                  <a:shade val="95000"/>
                </a:schemeClr>
              </a:solidFill>
              <a:round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Ошибки в исследованиях</c:v>
                </c:pt>
              </c:strCache>
            </c:strRef>
          </c:cat>
          <c:val>
            <c:numRef>
              <c:f>Лист1!$C$2</c:f>
              <c:numCache>
                <c:formatCode>0.00%</c:formatCode>
                <c:ptCount val="1"/>
                <c:pt idx="0">
                  <c:v>0.45400000000000001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35-47D2-BF26-0B26516663F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overlap val="-24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1"/>
        <c:axPos val="l"/>
        <c:majorGridlines>
          <c:spPr>
            <a:prstGeom prst="rect">
              <a:avLst/>
            </a:prstGeom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%" sourceLinked="1"/>
        <c:majorTickMark val="out"/>
        <c:minorTickMark val="none"/>
        <c:tickLblPos val="nextTo"/>
        <c:crossAx val="1688540351"/>
        <c:crosses val="autoZero"/>
        <c:crossBetween val="between"/>
        <c:majorUnit val="1"/>
      </c:valAx>
      <c:spPr>
        <a:prstGeom prst="rect">
          <a:avLst/>
        </a:prstGeom>
        <a:noFill/>
        <a:ln>
          <a:noFill/>
        </a:ln>
        <a:effectLst/>
      </c:spPr>
    </c:plotArea>
    <c:legend>
      <c:legendPos val="b"/>
      <c:overlay val="0"/>
      <c:spPr>
        <a:prstGeom prst="rect">
          <a:avLst/>
        </a:prstGeom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xfrm>
      <a:off x="346075" y="1424510"/>
      <a:ext cx="5749925" cy="4401748"/>
    </a:xfrm>
    <a:prstGeom prst="rect">
      <a:avLst/>
    </a:prstGeom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6">
  <cs:axisTitle>
    <cs:lnRef idx="0"/>
    <cs:fillRef idx="0"/>
    <cs:effectRef idx="0"/>
    <cs:fontRef idx="minor">
      <a:schemeClr val="tx1">
        <a:lumMod val="50000"/>
        <a:lumOff val="50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50000"/>
        <a:lumOff val="50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>
  <cs:dataPoint3D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3D>
  <cs:dataPointLine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158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4"/>
  <cs:dataPointWirefram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50000"/>
        <a:lumOff val="50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50000"/>
        <a:lumOff val="50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1">
        <a:lumMod val="50000"/>
        <a:lumOff val="50000"/>
      </a:schemeClr>
    </cs:fontRef>
    <cs:defRPr sz="1862" kern="1200" cap="none" spc="20" baseline="0"/>
  </cs:title>
  <cs:trendlin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50000"/>
        <a:lumOff val="50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50000"/>
        <a:lumOff val="50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1812951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76178070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28.09.2026</a:t>
            </a:fld>
            <a:endParaRPr lang="ru-RU"/>
          </a:p>
        </p:txBody>
      </p:sp>
      <p:sp>
        <p:nvSpPr>
          <p:cNvPr id="1008376219" name="Образ слайда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657332147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61909993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32077215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4A0333-DA6B-BAA6-F9EA-5D8AC4D62B17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9B8682-549C-E1BB-F508-D1525C1FC77B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444576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3266101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0362608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3</a:t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542127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5156749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5942801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4</a:t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299260-C65D-4A5C-3C37-B22449FEC14D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67B9-54C4-EB22-8C9E-0FC5BA1455A2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F06EBC-152B-39B7-84F3-BD9F4D07ECD0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5440481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76689137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5732498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8</a:t>
            </a:fld>
            <a:endParaRPr lang="ru-RU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299260-C65D-4A5C-3C37-B22449FEC14D}" type="slidenum">
              <a:rPr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140515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0EF839-8C2F-1635-BA9E-18E16C384912}" type="slidenum">
              <a:rPr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015387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0EF839-8C2F-1635-BA9E-18E16C384912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0EF839-8C2F-1635-BA9E-18E16C384912}" type="slidenum">
              <a:rPr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05219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итульный слайд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68288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88029575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401620835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602869623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076004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1666356196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522378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28.09.2026</a:t>
            </a:fld>
            <a:endParaRPr lang="ru-RU"/>
          </a:p>
        </p:txBody>
      </p:sp>
      <p:sp>
        <p:nvSpPr>
          <p:cNvPr id="104878655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9380906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92736678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1795973529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913937985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154833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0006364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660029963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5602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28.09.2026</a:t>
            </a:fld>
            <a:endParaRPr lang="ru-RU"/>
          </a:p>
        </p:txBody>
      </p:sp>
      <p:sp>
        <p:nvSpPr>
          <p:cNvPr id="11232564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0745183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1669326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1237116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28.09.2026</a:t>
            </a:fld>
            <a:endParaRPr lang="ru-RU"/>
          </a:p>
        </p:txBody>
      </p:sp>
      <p:sp>
        <p:nvSpPr>
          <p:cNvPr id="18586653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1058281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454463469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536032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4292606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8977096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28.09.2026</a:t>
            </a:fld>
            <a:endParaRPr lang="ru-RU"/>
          </a:p>
        </p:txBody>
      </p:sp>
      <p:sp>
        <p:nvSpPr>
          <p:cNvPr id="1213391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77490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91928755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555898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7223496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73163667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91712141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280543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28.09.2026</a:t>
            </a:fld>
            <a:endParaRPr lang="ru-RU"/>
          </a:p>
        </p:txBody>
      </p:sp>
      <p:sp>
        <p:nvSpPr>
          <p:cNvPr id="657734324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41445009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91046477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12139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28.09.2026</a:t>
            </a:fld>
            <a:endParaRPr lang="ru-RU"/>
          </a:p>
        </p:txBody>
      </p:sp>
      <p:sp>
        <p:nvSpPr>
          <p:cNvPr id="14842797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861867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85011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75281028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96366570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611987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28.09.2026</a:t>
            </a:fld>
            <a:endParaRPr lang="ru-RU"/>
          </a:p>
        </p:txBody>
      </p:sp>
      <p:sp>
        <p:nvSpPr>
          <p:cNvPr id="155615248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1458955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0165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28.09.2026</a:t>
            </a:fld>
            <a:endParaRPr lang="ru-RU"/>
          </a:p>
        </p:txBody>
      </p:sp>
      <p:sp>
        <p:nvSpPr>
          <p:cNvPr id="2075348248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19872225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6834576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27087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28.09.2026</a:t>
            </a:fld>
            <a:endParaRPr lang="ru-RU"/>
          </a:p>
        </p:txBody>
      </p:sp>
      <p:sp>
        <p:nvSpPr>
          <p:cNvPr id="19504199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00584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92380901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874422937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94822356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69095115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530970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6454970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069797757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35738940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476364177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458554842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611309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680188690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9577271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89925399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5697210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208148889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684210003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2519466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969617493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084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28.09.2026</a:t>
            </a:fld>
            <a:endParaRPr lang="ru-RU"/>
          </a:p>
        </p:txBody>
      </p:sp>
      <p:sp>
        <p:nvSpPr>
          <p:cNvPr id="208819332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757589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77865552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39753479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67254588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01935067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0516688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5329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28.09.2026</a:t>
            </a:fld>
            <a:endParaRPr lang="ru-RU"/>
          </a:p>
        </p:txBody>
      </p:sp>
      <p:sp>
        <p:nvSpPr>
          <p:cNvPr id="14957248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8407401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103893195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808292524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31151279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899808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709136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39403092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5408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28.09.2026</a:t>
            </a:fld>
            <a:endParaRPr lang="ru-RU"/>
          </a:p>
        </p:txBody>
      </p:sp>
      <p:sp>
        <p:nvSpPr>
          <p:cNvPr id="15107933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229932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37256866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68929240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88821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18155805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3972428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6472058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2275498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58109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28.09.2026</a:t>
            </a:fld>
            <a:endParaRPr lang="ru-RU"/>
          </a:p>
        </p:txBody>
      </p:sp>
      <p:sp>
        <p:nvSpPr>
          <p:cNvPr id="45079419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0081529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9732652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9114585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476688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3066030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9164481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024821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652764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9505246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930435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6692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28.09.2026</a:t>
            </a:fld>
            <a:endParaRPr lang="ru-RU"/>
          </a:p>
        </p:txBody>
      </p:sp>
      <p:sp>
        <p:nvSpPr>
          <p:cNvPr id="3437555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715226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45142924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32442884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91519423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879207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82414852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5407611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283262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619203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54626048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84985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28.09.2026</a:t>
            </a:fld>
            <a:endParaRPr lang="ru-RU"/>
          </a:p>
        </p:txBody>
      </p:sp>
      <p:sp>
        <p:nvSpPr>
          <p:cNvPr id="144845255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3310992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2492746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322562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240833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76004260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7609924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710853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49188184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968598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95903953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0288170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55163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57983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28.09.2026</a:t>
            </a:fld>
            <a:endParaRPr lang="ru-RU"/>
          </a:p>
        </p:txBody>
      </p:sp>
      <p:sp>
        <p:nvSpPr>
          <p:cNvPr id="167580533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143372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60885061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22197277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1611885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428729295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856443119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1922520453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034779806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08616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8964899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28.09.2026</a:t>
            </a:fld>
            <a:endParaRPr lang="ru-RU"/>
          </a:p>
        </p:txBody>
      </p:sp>
      <p:sp>
        <p:nvSpPr>
          <p:cNvPr id="37812774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3889069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4715051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21024583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2028016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04478788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1235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28.09.2026</a:t>
            </a:fld>
            <a:endParaRPr lang="ru-RU"/>
          </a:p>
        </p:txBody>
      </p:sp>
      <p:sp>
        <p:nvSpPr>
          <p:cNvPr id="11471699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303687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591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3639810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72244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2558450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823724485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5624748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0666637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6197673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9067376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7894898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5861159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4532877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25523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08796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589614520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1545724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625227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7509977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161946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18129555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28.09.2026</a:t>
            </a:fld>
            <a:endParaRPr lang="ru-RU"/>
          </a:p>
        </p:txBody>
      </p:sp>
      <p:sp>
        <p:nvSpPr>
          <p:cNvPr id="2139654067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87854632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939360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80386608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9900378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68171859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93250523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28.09.2026</a:t>
            </a:fld>
            <a:endParaRPr lang="ru-RU"/>
          </a:p>
        </p:txBody>
      </p:sp>
      <p:sp>
        <p:nvSpPr>
          <p:cNvPr id="79260098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5050469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64420842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56314850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54257058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025276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2672160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5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09744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03902632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1779235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28.09.2026</a:t>
            </a:fld>
            <a:endParaRPr lang="ru-RU"/>
          </a:p>
        </p:txBody>
      </p:sp>
      <p:sp>
        <p:nvSpPr>
          <p:cNvPr id="192607067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8248768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microsoft.com/office/2007/relationships/hdphoto" Target="../media/hdphoto2.wdp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Relationship Id="rId4" Type="http://schemas.openxmlformats.org/officeDocument/2006/relationships/chart" Target="../charts/char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199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rPr lang="ru-RU" sz="4800" dirty="0"/>
              <a:t>ЭВЕКТИО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D3741DD-A344-47FA-B1DF-82D244D2193E}"/>
              </a:ext>
            </a:extLst>
          </p:cNvPr>
          <p:cNvPicPr>
            <a:picLocks noGrp="1"/>
          </p:cNvPicPr>
          <p:nvPr>
            <p:ph type="pic" sz="quarter" idx="1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29334" y="156245"/>
            <a:ext cx="2070782" cy="1672555"/>
          </a:xfrm>
        </p:spPr>
      </p:pic>
      <p:sp>
        <p:nvSpPr>
          <p:cNvPr id="757351073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330197" y="5659501"/>
            <a:ext cx="6561667" cy="757174"/>
          </a:xfrm>
        </p:spPr>
        <p:txBody>
          <a:bodyPr anchor="ctr">
            <a:normAutofit/>
          </a:bodyPr>
          <a:lstStyle/>
          <a:p>
            <a:pPr indent="0">
              <a:defRPr/>
            </a:pPr>
            <a:r>
              <a:rPr lang="en-US" dirty="0"/>
              <a:t>04 </a:t>
            </a:r>
            <a:r>
              <a:rPr lang="ru-RU" dirty="0"/>
              <a:t>Сервис искусственного интеллекта по оценке качества исследований плотности костей человека</a:t>
            </a:r>
          </a:p>
        </p:txBody>
      </p:sp>
      <p:sp>
        <p:nvSpPr>
          <p:cNvPr id="1091804844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098921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787ABB3-518D-47AB-AD62-CB3B2E885C5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07" b="9107"/>
          <a:stretch>
            <a:fillRect/>
          </a:stretch>
        </p:blipFill>
        <p:spPr bwMode="auto">
          <a:xfrm>
            <a:off x="0" y="334963"/>
            <a:ext cx="6456363" cy="2971800"/>
          </a:xfrm>
        </p:spPr>
      </p:pic>
      <p:sp>
        <p:nvSpPr>
          <p:cNvPr id="1143600250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  <a:endParaRPr dirty="0"/>
          </a:p>
        </p:txBody>
      </p:sp>
      <p:sp>
        <p:nvSpPr>
          <p:cNvPr id="441518184" name="Текст 8"/>
          <p:cNvSpPr txBox="1"/>
          <p:nvPr/>
        </p:nvSpPr>
        <p:spPr bwMode="auto">
          <a:xfrm>
            <a:off x="6836606" y="4876070"/>
            <a:ext cx="4945565" cy="14802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lnSpcReduction="10000"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00000"/>
              </a:lnSpc>
              <a:buFont typeface="Wingdings"/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Сервис сочетает автоматическую разметку с возможностью ручной коррекции специалистом, адаптирован для полноэкранной работы, работает во всех современных браузерах и не требует мощного оборудования благодаря малому размеру и низким системным требованиям.</a:t>
            </a:r>
            <a:endParaRPr dirty="0"/>
          </a:p>
        </p:txBody>
      </p:sp>
      <p:sp>
        <p:nvSpPr>
          <p:cNvPr id="661119785" name="Текст 8"/>
          <p:cNvSpPr txBox="1"/>
          <p:nvPr/>
        </p:nvSpPr>
        <p:spPr bwMode="auto">
          <a:xfrm>
            <a:off x="334961" y="3883009"/>
            <a:ext cx="5869457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Захаров Андрей, </a:t>
            </a:r>
            <a:r>
              <a:rPr lang="en-US" dirty="0">
                <a:solidFill>
                  <a:schemeClr val="tx1"/>
                </a:solidFill>
              </a:rPr>
              <a:t>Project-</a:t>
            </a:r>
            <a:r>
              <a:rPr lang="ru-RU" dirty="0">
                <a:solidFill>
                  <a:schemeClr val="tx1"/>
                </a:solidFill>
              </a:rPr>
              <a:t>менеджер, разработчик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2 человека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dirty="0">
                <a:solidFill>
                  <a:schemeClr val="tx1"/>
                </a:solidFill>
              </a:rPr>
              <a:t>Коллеги по работе 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dirty="0">
                <a:solidFill>
                  <a:schemeClr val="tx1"/>
                </a:solidFill>
              </a:rPr>
              <a:t>ФНКЦ РР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b="1" dirty="0">
                <a:solidFill>
                  <a:schemeClr val="tx1"/>
                </a:solidFill>
              </a:rPr>
              <a:t>Город и регион: </a:t>
            </a:r>
            <a:r>
              <a:rPr lang="ru-RU" dirty="0">
                <a:solidFill>
                  <a:schemeClr val="tx1"/>
                </a:solidFill>
              </a:rPr>
              <a:t>Москва</a:t>
            </a:r>
            <a:endParaRPr dirty="0"/>
          </a:p>
        </p:txBody>
      </p:sp>
      <p:sp>
        <p:nvSpPr>
          <p:cNvPr id="648121520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328740113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4884824" cy="1015128"/>
          </a:xfrm>
        </p:spPr>
        <p:txBody>
          <a:bodyPr/>
          <a:lstStyle/>
          <a:p>
            <a:pPr>
              <a:defRPr/>
            </a:pPr>
            <a:r>
              <a:rPr lang="ru-RU" sz="2400" dirty="0">
                <a:solidFill>
                  <a:schemeClr val="accent5"/>
                </a:solidFill>
                <a:latin typeface="Montserrat"/>
              </a:rPr>
              <a:t>КОМАНДА «ЭВЕКТИО»</a:t>
            </a:r>
          </a:p>
        </p:txBody>
      </p:sp>
      <p:cxnSp>
        <p:nvCxnSpPr>
          <p:cNvPr id="147895407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16552124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31184900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03619342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  <a:endParaRPr dirty="0"/>
          </a:p>
        </p:txBody>
      </p:sp>
      <p:sp>
        <p:nvSpPr>
          <p:cNvPr id="1075761414" name="Текст 8"/>
          <p:cNvSpPr txBox="1"/>
          <p:nvPr/>
        </p:nvSpPr>
        <p:spPr bwMode="auto">
          <a:xfrm>
            <a:off x="6808027" y="2619903"/>
            <a:ext cx="4945565" cy="181797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00000"/>
              </a:lnSpc>
              <a:buFont typeface="Wingdings"/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Готовый к развертыванию сервис, который интегрируется в рабочий процесс медицинской организации и помогает автоматически выявлять ошибки DXA-исследований до их ручного анализа врачом.</a:t>
            </a:r>
            <a:endParaRPr dirty="0"/>
          </a:p>
        </p:txBody>
      </p:sp>
      <p:sp>
        <p:nvSpPr>
          <p:cNvPr id="2108767591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2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9445992" name="Скругленный прямоугольник 55"/>
          <p:cNvSpPr/>
          <p:nvPr/>
        </p:nvSpPr>
        <p:spPr bwMode="auto">
          <a:xfrm>
            <a:off x="6563945" y="1522006"/>
            <a:ext cx="3725215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0223453" name="Текст 8"/>
          <p:cNvSpPr txBox="1"/>
          <p:nvPr/>
        </p:nvSpPr>
        <p:spPr bwMode="auto">
          <a:xfrm>
            <a:off x="6736229" y="4494881"/>
            <a:ext cx="3500143" cy="137975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Врач, научный сотрудник, разработчик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en-US" sz="1200" dirty="0" err="1">
                <a:solidFill>
                  <a:schemeClr val="tx1"/>
                </a:solidFill>
              </a:rPr>
              <a:t>realzel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+79055660646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ФНКЦ РР</a:t>
            </a:r>
          </a:p>
        </p:txBody>
      </p:sp>
      <p:sp>
        <p:nvSpPr>
          <p:cNvPr id="1259743807" name="Текст 8"/>
          <p:cNvSpPr txBox="1"/>
          <p:nvPr/>
        </p:nvSpPr>
        <p:spPr bwMode="auto">
          <a:xfrm>
            <a:off x="6736229" y="3622118"/>
            <a:ext cx="1722566" cy="6720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Илья</a:t>
            </a:r>
          </a:p>
          <a:p>
            <a:pPr marL="0" indent="0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Борисов</a:t>
            </a:r>
            <a:endParaRPr dirty="0"/>
          </a:p>
        </p:txBody>
      </p:sp>
      <p:sp>
        <p:nvSpPr>
          <p:cNvPr id="481545546" name="Скругленный прямоугольник 16"/>
          <p:cNvSpPr/>
          <p:nvPr/>
        </p:nvSpPr>
        <p:spPr bwMode="auto">
          <a:xfrm>
            <a:off x="1325467" y="1522006"/>
            <a:ext cx="3725215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62366709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93695819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3</a:t>
            </a:fld>
            <a:endParaRPr lang="ru-RU">
              <a:solidFill>
                <a:schemeClr val="bg1"/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5013460-640F-463E-86C4-A6AB96C59AF5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25000"/>
                    </a14:imgEffect>
                    <a14:imgEffect>
                      <a14:brightnessContrast bright="7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1945" t="3988" r="17436" b="61059"/>
          <a:stretch/>
        </p:blipFill>
        <p:spPr bwMode="auto">
          <a:xfrm>
            <a:off x="2141781" y="1795645"/>
            <a:ext cx="2009787" cy="174002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41BBE72-7ACD-4D82-998E-4541B8CF375D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5900"/>
                    </a14:imgEffect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002" b="2002"/>
          <a:stretch/>
        </p:blipFill>
        <p:spPr bwMode="auto">
          <a:xfrm>
            <a:off x="7511580" y="1861108"/>
            <a:ext cx="1864521" cy="166861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415042907" name="Заголовок 6"/>
          <p:cNvSpPr>
            <a:spLocks noGrp="1"/>
          </p:cNvSpPr>
          <p:nvPr>
            <p:ph type="title"/>
          </p:nvPr>
        </p:nvSpPr>
        <p:spPr bwMode="auto">
          <a:xfrm>
            <a:off x="67837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>
                <a:latin typeface="Montserrat"/>
              </a:rPr>
              <a:t>КОМАНДА «ЭВЕКТИО»</a:t>
            </a:r>
          </a:p>
        </p:txBody>
      </p:sp>
      <p:sp>
        <p:nvSpPr>
          <p:cNvPr id="105846267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1497751" y="4494881"/>
            <a:ext cx="3362686" cy="1371449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Project-</a:t>
            </a:r>
            <a:r>
              <a:rPr lang="ru-RU" sz="1200" dirty="0">
                <a:solidFill>
                  <a:schemeClr val="tx1"/>
                </a:solidFill>
              </a:rPr>
              <a:t>менеджер, разработчик</a:t>
            </a:r>
            <a:endParaRPr dirty="0"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-US" sz="1200" dirty="0" err="1">
                <a:solidFill>
                  <a:schemeClr val="tx1"/>
                </a:solidFill>
              </a:rPr>
              <a:t>zakharov_aa</a:t>
            </a:r>
            <a:endParaRPr lang="ru-RU" dirty="0"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+79036845048</a:t>
            </a:r>
            <a:endParaRPr lang="ru-RU" dirty="0"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ФНКЦ РР</a:t>
            </a:r>
            <a:endParaRPr dirty="0"/>
          </a:p>
        </p:txBody>
      </p:sp>
      <p:sp>
        <p:nvSpPr>
          <p:cNvPr id="1278750663" name="Текст 8"/>
          <p:cNvSpPr txBox="1"/>
          <p:nvPr/>
        </p:nvSpPr>
        <p:spPr bwMode="auto">
          <a:xfrm>
            <a:off x="1497751" y="3622118"/>
            <a:ext cx="2841788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Андрей</a:t>
            </a:r>
          </a:p>
          <a:p>
            <a:pPr marL="0" indent="0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Захаров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463204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40408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5297653" name="Заголовок 6"/>
          <p:cNvSpPr>
            <a:spLocks noGrp="1"/>
          </p:cNvSpPr>
          <p:nvPr>
            <p:ph type="title"/>
          </p:nvPr>
        </p:nvSpPr>
        <p:spPr bwMode="auto">
          <a:xfrm>
            <a:off x="59928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>
                <a:latin typeface="Montserrat"/>
              </a:rPr>
              <a:t>КОМАНДА «ЭВЕКТИО»</a:t>
            </a:r>
          </a:p>
        </p:txBody>
      </p:sp>
      <p:sp>
        <p:nvSpPr>
          <p:cNvPr id="158889012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10879900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Нас двое: врач и инженер. Это наш первый </a:t>
            </a:r>
            <a:r>
              <a:rPr lang="ru-RU" dirty="0" err="1">
                <a:solidFill>
                  <a:schemeClr val="tx1"/>
                </a:solidFill>
              </a:rPr>
              <a:t>хакатон</a:t>
            </a:r>
            <a:r>
              <a:rPr lang="ru-RU" dirty="0">
                <a:solidFill>
                  <a:schemeClr val="tx1"/>
                </a:solidFill>
              </a:rPr>
              <a:t>, и для нас он стал поводом объединить навыки и проверить, что мы можем создать вместе. Соревновательный дух нам близок: интересно не только спорить друг с другом о том, чьё решение лучше, но и выступить одной командой, чтобы побороться с другими участниками.</a:t>
            </a:r>
            <a:endParaRPr dirty="0"/>
          </a:p>
        </p:txBody>
      </p:sp>
      <p:sp>
        <p:nvSpPr>
          <p:cNvPr id="493921390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43118211" name="Текст 8"/>
          <p:cNvSpPr txBox="1"/>
          <p:nvPr/>
        </p:nvSpPr>
        <p:spPr bwMode="auto">
          <a:xfrm>
            <a:off x="533607" y="5139255"/>
            <a:ext cx="10879900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Главным вызовом стало совмещение основной работы с разработкой проекта. Приходилось находить время, договариваться о приоритетах и выбирать, что действительно важно успеть. При этом планку качества мы задали прежде всего для себя: хотелось сделать продукт, которым самим было бы приятно пользоваться и который можно с уверенностью показать другим. </a:t>
            </a:r>
            <a:endParaRPr dirty="0"/>
          </a:p>
        </p:txBody>
      </p:sp>
      <p:sp>
        <p:nvSpPr>
          <p:cNvPr id="765507967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1574440249" name="Текст 8"/>
          <p:cNvSpPr txBox="1"/>
          <p:nvPr/>
        </p:nvSpPr>
        <p:spPr bwMode="auto">
          <a:xfrm>
            <a:off x="533607" y="3429000"/>
            <a:ext cx="10879900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Эта задача оказалась на пересечении наших интересов — медицины и технологий. Врачебный взгляд помогает понять, что действительно нужно специалисту в повседневной работе, а инженерный — найти способ это реализовать. Нас привлекла возможность создать решение для конкретной медицинской проблемы и вложить в него опыт каждого из нас.</a:t>
            </a:r>
            <a:endParaRPr dirty="0"/>
          </a:p>
        </p:txBody>
      </p:sp>
      <p:sp>
        <p:nvSpPr>
          <p:cNvPr id="1790469585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1125078722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1438399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4362844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72459714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977750831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433482465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4634285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2449051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93046190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7018758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5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7821818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4279849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400" dirty="0">
                <a:solidFill>
                  <a:schemeClr val="tx1"/>
                </a:solidFill>
              </a:rPr>
              <a:t>Мы разработали прототип сервиса автоматизированного контроля качества DXA — рентгеновской денситометрии. Он анализирует DICOM-снимки поясничного отдела позвоночника и проксимального отдела бедра, определяет область исследования и проверяет корректность укладки и геометрию изображения. Методы компьютерного зрения и машинного обучения помогают выявлять различные нарушения и размечать анатомические области.</a:t>
            </a:r>
          </a:p>
          <a:p>
            <a:pPr>
              <a:defRPr/>
            </a:pPr>
            <a:r>
              <a:rPr lang="ru-RU" sz="1400" dirty="0">
                <a:solidFill>
                  <a:schemeClr val="tx1"/>
                </a:solidFill>
              </a:rPr>
              <a:t>Особое внимание мы уделили </a:t>
            </a:r>
            <a:r>
              <a:rPr lang="ru-RU" sz="1400" dirty="0" err="1">
                <a:solidFill>
                  <a:schemeClr val="tx1"/>
                </a:solidFill>
              </a:rPr>
              <a:t>интерпритации</a:t>
            </a:r>
            <a:r>
              <a:rPr lang="ru-RU" sz="1400" dirty="0">
                <a:solidFill>
                  <a:schemeClr val="tx1"/>
                </a:solidFill>
              </a:rPr>
              <a:t>: специалист видит, где находится проблемная зона, может проверить и самостоятельно скорректировать разметку. </a:t>
            </a:r>
            <a:endParaRPr lang="en-US" sz="140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sz="1400" dirty="0">
                <a:solidFill>
                  <a:schemeClr val="tx1"/>
                </a:solidFill>
              </a:rPr>
              <a:t>Результаты оформляются в CSV/XLSX и DICOM SR, что создаёт основу для интеграции с медицинскими системами хранения и просмотра изображений — PACS.</a:t>
            </a:r>
          </a:p>
        </p:txBody>
      </p:sp>
      <p:sp>
        <p:nvSpPr>
          <p:cNvPr id="3216555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4279849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400" dirty="0">
                <a:solidFill>
                  <a:schemeClr val="tx1"/>
                </a:solidFill>
              </a:rPr>
              <a:t>Мы видим наш сервис как помощника для специалистов кабинетов денситометрии, диагностических центров и клиник. Его задача — помогать замечать ошибки ещё до интерпретации исследования, сокращать время проверки и делать контроль качества более единообразным. При этом окончательное решение остаётся за специалистом.</a:t>
            </a:r>
            <a:endParaRPr lang="en-US" sz="140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sz="1400" dirty="0">
                <a:solidFill>
                  <a:schemeClr val="tx1"/>
                </a:solidFill>
              </a:rPr>
              <a:t>Следующий шаг — пилотное применение совместно с клиниками: проверка на исследованиях с разных аппаратов, оценка эффективности в повседневной работе и интеграция в привычный интерфейс врача. В дальнейшем сервис можно развивать как отдельный продукт для клиник или встраиваемый модуль для PACS и производителей оборудования. Дополнительные направления — обучение персонала и аудит качества архивных исследований.</a:t>
            </a:r>
          </a:p>
        </p:txBody>
      </p:sp>
      <p:sp>
        <p:nvSpPr>
          <p:cNvPr id="60750015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КОРОТКО О РЕШЕНИИ</a:t>
            </a:r>
            <a:endParaRPr dirty="0"/>
          </a:p>
        </p:txBody>
      </p:sp>
      <p:sp>
        <p:nvSpPr>
          <p:cNvPr id="2139836321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87825378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  <a:endParaRPr dirty="0"/>
          </a:p>
          <a:p>
            <a:pPr>
              <a:lnSpc>
                <a:spcPct val="100000"/>
              </a:lnSpc>
              <a:defRPr/>
            </a:pPr>
            <a:endParaRPr lang="ru-RU" b="1" dirty="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454368" name="Прямоугольник 29"/>
          <p:cNvSpPr/>
          <p:nvPr/>
        </p:nvSpPr>
        <p:spPr bwMode="auto"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94751754" name="Объект 28"/>
          <p:cNvSpPr>
            <a:spLocks noGrp="1"/>
          </p:cNvSpPr>
          <p:nvPr>
            <p:ph idx="1"/>
          </p:nvPr>
        </p:nvSpPr>
        <p:spPr bwMode="auto">
          <a:xfrm>
            <a:off x="521133" y="1663103"/>
            <a:ext cx="5574868" cy="4537671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«</a:t>
            </a:r>
            <a:r>
              <a:rPr lang="ru-RU" dirty="0" err="1">
                <a:solidFill>
                  <a:schemeClr val="tx1"/>
                </a:solidFill>
              </a:rPr>
              <a:t>Эвектио</a:t>
            </a:r>
            <a:r>
              <a:rPr lang="ru-RU" dirty="0">
                <a:solidFill>
                  <a:schemeClr val="tx1"/>
                </a:solidFill>
              </a:rPr>
              <a:t>» — готовый к развертыванию сервис автоматического контроля качества DXA-исследований. 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Система анализирует DICOM-изображения поясничного отдела позвоночника и проксимального отдела бедра, автоматически определяет область исследования, выполняет разметку и проверяет соответствие заданным критериям качества. 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Врач получает результат до ручного анализа снимка, видит обнаруженные нарушения и при необходимости может самостоятельно скорректировать автоматическую разметку.</a:t>
            </a:r>
          </a:p>
        </p:txBody>
      </p:sp>
      <p:sp>
        <p:nvSpPr>
          <p:cNvPr id="8" name="Скругленный прямоугольник 9">
            <a:extLst>
              <a:ext uri="{FF2B5EF4-FFF2-40B4-BE49-F238E27FC236}">
                <a16:creationId xmlns:a16="http://schemas.microsoft.com/office/drawing/2014/main" id="{7A53870E-B71A-44DA-A126-B3A0DD0C71B3}"/>
              </a:ext>
            </a:extLst>
          </p:cNvPr>
          <p:cNvSpPr/>
          <p:nvPr/>
        </p:nvSpPr>
        <p:spPr bwMode="auto">
          <a:xfrm>
            <a:off x="346075" y="324562"/>
            <a:ext cx="557486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29284307" name="Заголовок 27"/>
          <p:cNvSpPr>
            <a:spLocks noGrp="1"/>
          </p:cNvSpPr>
          <p:nvPr>
            <p:ph type="title"/>
          </p:nvPr>
        </p:nvSpPr>
        <p:spPr bwMode="auto">
          <a:xfrm>
            <a:off x="527444" y="395288"/>
            <a:ext cx="5574868" cy="425729"/>
          </a:xfrm>
        </p:spPr>
        <p:txBody>
          <a:bodyPr/>
          <a:lstStyle/>
          <a:p>
            <a:pPr>
              <a:defRPr/>
            </a:pPr>
            <a:r>
              <a:rPr lang="ru-RU" sz="2000" dirty="0">
                <a:solidFill>
                  <a:schemeClr val="bg1"/>
                </a:solidFill>
              </a:rPr>
              <a:t>ПОДРОБНОЕ ОПИСАНИЕ РЕШЕНИЯ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5176370-4A05-4B22-8BFA-C04BFB02116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10"/>
          <a:stretch/>
        </p:blipFill>
        <p:spPr>
          <a:xfrm>
            <a:off x="6456363" y="888666"/>
            <a:ext cx="5735637" cy="5969334"/>
          </a:xfrm>
          <a:prstGeom prst="rect">
            <a:avLst/>
          </a:prstGeom>
        </p:spPr>
      </p:pic>
      <p:sp>
        <p:nvSpPr>
          <p:cNvPr id="2065220022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425051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50671869" name="Скругленный прямоугольник 11"/>
          <p:cNvSpPr/>
          <p:nvPr/>
        </p:nvSpPr>
        <p:spPr bwMode="auto">
          <a:xfrm>
            <a:off x="6286500" y="2669767"/>
            <a:ext cx="5570538" cy="1829523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9896725" name="Скругленный прямоугольник 10"/>
          <p:cNvSpPr/>
          <p:nvPr/>
        </p:nvSpPr>
        <p:spPr bwMode="auto">
          <a:xfrm>
            <a:off x="6286500" y="917525"/>
            <a:ext cx="5570538" cy="151187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005219055" name="Скругленный прямоугольник 1"/>
          <p:cNvSpPr/>
          <p:nvPr/>
        </p:nvSpPr>
        <p:spPr bwMode="auto">
          <a:xfrm>
            <a:off x="346074" y="324562"/>
            <a:ext cx="564324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06338296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7</a:t>
            </a:fld>
            <a:endParaRPr lang="ru-RU"/>
          </a:p>
        </p:txBody>
      </p:sp>
      <p:sp>
        <p:nvSpPr>
          <p:cNvPr id="1233537166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352168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 dirty="0">
                <a:solidFill>
                  <a:schemeClr val="tx1"/>
                </a:solidFill>
              </a:rPr>
              <a:t>Мировая статистика</a:t>
            </a:r>
          </a:p>
        </p:txBody>
      </p:sp>
      <p:sp>
        <p:nvSpPr>
          <p:cNvPr id="474682657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401895"/>
            <a:ext cx="4790314" cy="80790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До половины DXA-исследований могут содержать ошибки позиционирования или анализа. В опубликованных исследованиях нарушения выявлялись в 43–45% исследований позвоночника и проксимального отдела бедра.</a:t>
            </a:r>
          </a:p>
        </p:txBody>
      </p:sp>
      <p:sp>
        <p:nvSpPr>
          <p:cNvPr id="802416208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781563"/>
            <a:ext cx="4790314" cy="697753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 dirty="0">
                <a:solidFill>
                  <a:schemeClr val="tx1"/>
                </a:solidFill>
              </a:rPr>
              <a:t>Экономическое решение</a:t>
            </a:r>
          </a:p>
        </p:txBody>
      </p:sp>
      <p:sp>
        <p:nvSpPr>
          <p:cNvPr id="309289454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070860"/>
            <a:ext cx="4790314" cy="136896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Автоматический контроль позволяет выявлять ошибку до завершения исследования и до ручного анализа врачом. При потоке 10 тыс. DXA в год модель показывает потенциал предотвращения 375–750 повторных исследований или повторных обработок, высвобождения до 333 часов работы специалистов и экономического эффекта порядка </a:t>
            </a:r>
            <a:r>
              <a:rPr lang="ru-RU" b="1" dirty="0">
                <a:solidFill>
                  <a:schemeClr val="tx1"/>
                </a:solidFill>
              </a:rPr>
              <a:t>1–2,5 млн ₽ в год</a:t>
            </a:r>
            <a:r>
              <a:rPr lang="ru-RU" dirty="0">
                <a:solidFill>
                  <a:schemeClr val="tx1"/>
                </a:solidFill>
              </a:rPr>
              <a:t> </a:t>
            </a:r>
            <a:r>
              <a:rPr lang="ru-RU" b="1" dirty="0">
                <a:solidFill>
                  <a:schemeClr val="tx1"/>
                </a:solidFill>
              </a:rPr>
              <a:t>на один диагностический центр.</a:t>
            </a:r>
          </a:p>
        </p:txBody>
      </p:sp>
      <p:sp>
        <p:nvSpPr>
          <p:cNvPr id="723791391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4848161"/>
            <a:ext cx="5043950" cy="150819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Продукт ориентирован на медицинские организации, диагностические центры и отделения лучевой диагностики, выполняющие денситометрию. 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Сервис может стать дополнительным уровнем контроля качества, позволяя снижать количество исследований с ошибками позиционирования и разметки, стандартизировать работу специалистов и экономить время врача.</a:t>
            </a:r>
          </a:p>
        </p:txBody>
      </p:sp>
      <p:graphicFrame>
        <p:nvGraphicFramePr>
          <p:cNvPr id="668511626" name="Диаграмма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58415577"/>
              </p:ext>
            </p:extLst>
          </p:nvPr>
        </p:nvGraphicFramePr>
        <p:xfrm>
          <a:off x="346075" y="1005410"/>
          <a:ext cx="5749925" cy="46867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8142109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6" y="451706"/>
            <a:ext cx="5334935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МАРКЕТИНГОВАЯ ЧАСТЬ РЕШЕНИЯ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6D0B3D-5A95-40C3-966C-57065370CC7F}"/>
              </a:ext>
            </a:extLst>
          </p:cNvPr>
          <p:cNvSpPr txBox="1"/>
          <p:nvPr/>
        </p:nvSpPr>
        <p:spPr>
          <a:xfrm>
            <a:off x="620261" y="6021276"/>
            <a:ext cx="5369059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700" dirty="0">
                <a:solidFill>
                  <a:schemeClr val="bg2"/>
                </a:solidFill>
              </a:rPr>
              <a:t>Источник: </a:t>
            </a:r>
            <a:r>
              <a:rPr lang="en-US" sz="700" dirty="0" err="1">
                <a:solidFill>
                  <a:schemeClr val="bg2"/>
                </a:solidFill>
              </a:rPr>
              <a:t>Bayır</a:t>
            </a:r>
            <a:r>
              <a:rPr lang="en-US" sz="700" dirty="0">
                <a:solidFill>
                  <a:schemeClr val="bg2"/>
                </a:solidFill>
              </a:rPr>
              <a:t> YB, </a:t>
            </a:r>
            <a:r>
              <a:rPr lang="en-US" sz="700" dirty="0" err="1">
                <a:solidFill>
                  <a:schemeClr val="bg2"/>
                </a:solidFill>
              </a:rPr>
              <a:t>Ünal</a:t>
            </a:r>
            <a:r>
              <a:rPr lang="en-US" sz="700" dirty="0">
                <a:solidFill>
                  <a:schemeClr val="bg2"/>
                </a:solidFill>
              </a:rPr>
              <a:t> ZK, </a:t>
            </a:r>
            <a:r>
              <a:rPr lang="en-US" sz="700" dirty="0" err="1">
                <a:solidFill>
                  <a:schemeClr val="bg2"/>
                </a:solidFill>
              </a:rPr>
              <a:t>Yılmaz</a:t>
            </a:r>
            <a:r>
              <a:rPr lang="en-US" sz="700" dirty="0">
                <a:solidFill>
                  <a:schemeClr val="bg2"/>
                </a:solidFill>
              </a:rPr>
              <a:t> ZA, </a:t>
            </a:r>
            <a:r>
              <a:rPr lang="en-US" sz="700" dirty="0" err="1">
                <a:solidFill>
                  <a:schemeClr val="bg2"/>
                </a:solidFill>
              </a:rPr>
              <a:t>Türemenoğulları</a:t>
            </a:r>
            <a:r>
              <a:rPr lang="en-US" sz="700" dirty="0">
                <a:solidFill>
                  <a:schemeClr val="bg2"/>
                </a:solidFill>
              </a:rPr>
              <a:t> B, Ata Ö, </a:t>
            </a:r>
            <a:r>
              <a:rPr lang="en-US" sz="700" dirty="0" err="1">
                <a:solidFill>
                  <a:schemeClr val="bg2"/>
                </a:solidFill>
              </a:rPr>
              <a:t>Adıgüzel</a:t>
            </a:r>
            <a:r>
              <a:rPr lang="en-US" sz="700" dirty="0">
                <a:solidFill>
                  <a:schemeClr val="bg2"/>
                </a:solidFill>
              </a:rPr>
              <a:t> E. How accurate are Dual-Energy X-Ray Absorptiometry measurements in clinical practice?: a retrospective single </a:t>
            </a:r>
            <a:r>
              <a:rPr lang="en-US" sz="700" dirty="0" err="1">
                <a:solidFill>
                  <a:schemeClr val="bg2"/>
                </a:solidFill>
              </a:rPr>
              <a:t>centre</a:t>
            </a:r>
            <a:r>
              <a:rPr lang="en-US" sz="700" dirty="0">
                <a:solidFill>
                  <a:schemeClr val="bg2"/>
                </a:solidFill>
              </a:rPr>
              <a:t> study. J Clin </a:t>
            </a:r>
            <a:r>
              <a:rPr lang="en-US" sz="700" dirty="0" err="1">
                <a:solidFill>
                  <a:schemeClr val="bg2"/>
                </a:solidFill>
              </a:rPr>
              <a:t>Densitom</a:t>
            </a:r>
            <a:r>
              <a:rPr lang="en-US" sz="700" dirty="0">
                <a:solidFill>
                  <a:schemeClr val="bg2"/>
                </a:solidFill>
              </a:rPr>
              <a:t>. 2025 Oct-Dec;28(4):101606. </a:t>
            </a:r>
            <a:r>
              <a:rPr lang="en-US" sz="700" dirty="0" err="1">
                <a:solidFill>
                  <a:schemeClr val="bg2"/>
                </a:solidFill>
              </a:rPr>
              <a:t>doi</a:t>
            </a:r>
            <a:r>
              <a:rPr lang="en-US" sz="700" dirty="0">
                <a:solidFill>
                  <a:schemeClr val="bg2"/>
                </a:solidFill>
              </a:rPr>
              <a:t>: 10.1016/j.jocd.2025.101606. </a:t>
            </a:r>
            <a:r>
              <a:rPr lang="en-US" sz="700" dirty="0" err="1">
                <a:solidFill>
                  <a:schemeClr val="bg2"/>
                </a:solidFill>
              </a:rPr>
              <a:t>Epub</a:t>
            </a:r>
            <a:r>
              <a:rPr lang="en-US" sz="700" dirty="0">
                <a:solidFill>
                  <a:schemeClr val="bg2"/>
                </a:solidFill>
              </a:rPr>
              <a:t> 2025 Jul 4. PMID: 40782707.</a:t>
            </a:r>
            <a:endParaRPr lang="ru-RU" sz="700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1A50865-CCE9-40A4-9A97-9D461960738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052" t="13310" r="24987"/>
          <a:stretch/>
        </p:blipFill>
        <p:spPr bwMode="auto">
          <a:xfrm>
            <a:off x="6591300" y="912812"/>
            <a:ext cx="5600700" cy="5945187"/>
          </a:xfrm>
        </p:spPr>
      </p:pic>
      <p:sp>
        <p:nvSpPr>
          <p:cNvPr id="646767918" name="Скругленный прямоугольник 8"/>
          <p:cNvSpPr/>
          <p:nvPr/>
        </p:nvSpPr>
        <p:spPr bwMode="auto">
          <a:xfrm>
            <a:off x="666115" y="1318260"/>
            <a:ext cx="5354638" cy="5279389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17194336" name="Номер слайда 1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8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58568974" name="Заголовок 2"/>
          <p:cNvSpPr>
            <a:spLocks noGrp="1"/>
          </p:cNvSpPr>
          <p:nvPr>
            <p:ph type="title"/>
          </p:nvPr>
        </p:nvSpPr>
        <p:spPr bwMode="auto">
          <a:xfrm>
            <a:off x="622040" y="496888"/>
            <a:ext cx="4781233" cy="415925"/>
          </a:xfrm>
        </p:spPr>
        <p:txBody>
          <a:bodyPr/>
          <a:lstStyle/>
          <a:p>
            <a:pPr>
              <a:defRPr/>
            </a:pPr>
            <a:endParaRPr lang="ru-RU" sz="1800" dirty="0">
              <a:solidFill>
                <a:schemeClr val="accent5"/>
              </a:solidFill>
            </a:endParaRPr>
          </a:p>
        </p:txBody>
      </p:sp>
      <p:sp>
        <p:nvSpPr>
          <p:cNvPr id="1933660009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953573" y="1760219"/>
            <a:ext cx="4807840" cy="4337051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«</a:t>
            </a:r>
            <a:r>
              <a:rPr lang="ru-RU" dirty="0" err="1">
                <a:solidFill>
                  <a:schemeClr val="tx1"/>
                </a:solidFill>
              </a:rPr>
              <a:t>Эвектио</a:t>
            </a:r>
            <a:r>
              <a:rPr lang="ru-RU" dirty="0">
                <a:solidFill>
                  <a:schemeClr val="tx1"/>
                </a:solidFill>
              </a:rPr>
              <a:t>» — B2B-продукт для медицинских организаций, выполняющих DXA-исследования. </a:t>
            </a:r>
          </a:p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Модель монетизации — лицензирование на рабочее место, кабинет или медицинскую организацию с возможностью корпоративного подключения сети клиник.</a:t>
            </a:r>
          </a:p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Внедрение начинается с пилота на одном рабочем месте с последующим масштабированием и интеграцией с PACS/RIS. </a:t>
            </a:r>
          </a:p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Сервис не требует замены существующего оборудования и может разворачиваться во внутреннем контуре клиники.</a:t>
            </a:r>
          </a:p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Дополнительные источники выручки — интеграция, техническая поддержка, корпоративные лицензии и аналитические модули контроля качества. </a:t>
            </a:r>
          </a:p>
          <a:p>
            <a:pPr marL="0" indent="0"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Масштабирование возможно за счёт подключения новых филиалов и расширения на дополнительные протоколы DXA.</a:t>
            </a:r>
          </a:p>
          <a:p>
            <a:pPr>
              <a:defRPr/>
            </a:pP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9">
            <a:extLst>
              <a:ext uri="{FF2B5EF4-FFF2-40B4-BE49-F238E27FC236}">
                <a16:creationId xmlns:a16="http://schemas.microsoft.com/office/drawing/2014/main" id="{4147B9BA-7E51-45BE-B165-3DB79AD45E8F}"/>
              </a:ext>
            </a:extLst>
          </p:cNvPr>
          <p:cNvSpPr/>
          <p:nvPr/>
        </p:nvSpPr>
        <p:spPr bwMode="auto">
          <a:xfrm>
            <a:off x="346074" y="332182"/>
            <a:ext cx="624522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" name="Заголовок 13">
            <a:extLst>
              <a:ext uri="{FF2B5EF4-FFF2-40B4-BE49-F238E27FC236}">
                <a16:creationId xmlns:a16="http://schemas.microsoft.com/office/drawing/2014/main" id="{81E31B3D-6447-4261-9D4B-64BA8C35090C}"/>
              </a:ext>
            </a:extLst>
          </p:cNvPr>
          <p:cNvSpPr txBox="1">
            <a:spLocks/>
          </p:cNvSpPr>
          <p:nvPr/>
        </p:nvSpPr>
        <p:spPr bwMode="auto">
          <a:xfrm>
            <a:off x="376554" y="456851"/>
            <a:ext cx="6344286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/>
              </a:defRPr>
            </a:lvl1pPr>
          </a:lstStyle>
          <a:p>
            <a:pPr>
              <a:defRPr/>
            </a:pPr>
            <a:r>
              <a:rPr lang="ru-RU" dirty="0"/>
              <a:t>БИЗНЕСОВАЯ СОСТАВЛЯЮЩАЯ РЕШЕНИЯ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4634285" name="Скругленный прямоугольник 9"/>
          <p:cNvSpPr/>
          <p:nvPr/>
        </p:nvSpPr>
        <p:spPr bwMode="auto">
          <a:xfrm>
            <a:off x="346075" y="324562"/>
            <a:ext cx="604710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2449051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93046190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7018758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7821818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897381"/>
            <a:ext cx="4929861" cy="4099560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400" dirty="0">
                <a:solidFill>
                  <a:schemeClr val="tx1"/>
                </a:solidFill>
              </a:rPr>
              <a:t>Сервис работает напрямую с DICOM-исследованиями: автоматически распознаёт область сканирования, выполняет разметку и проверяет критерии качества с учётом </a:t>
            </a:r>
            <a:r>
              <a:rPr lang="ru-RU" sz="1400" dirty="0" err="1">
                <a:solidFill>
                  <a:schemeClr val="tx1"/>
                </a:solidFill>
              </a:rPr>
              <a:t>Pixel</a:t>
            </a:r>
            <a:r>
              <a:rPr lang="ru-RU" sz="1400" dirty="0">
                <a:solidFill>
                  <a:schemeClr val="tx1"/>
                </a:solidFill>
              </a:rPr>
              <a:t> </a:t>
            </a:r>
            <a:r>
              <a:rPr lang="ru-RU" sz="1400" dirty="0" err="1">
                <a:solidFill>
                  <a:schemeClr val="tx1"/>
                </a:solidFill>
              </a:rPr>
              <a:t>Spacing</a:t>
            </a:r>
            <a:r>
              <a:rPr lang="ru-RU" sz="1400" dirty="0">
                <a:solidFill>
                  <a:schemeClr val="tx1"/>
                </a:solidFill>
              </a:rPr>
              <a:t>, расстояний в миллиметрах и углов.</a:t>
            </a:r>
          </a:p>
          <a:p>
            <a:pPr>
              <a:defRPr/>
            </a:pPr>
            <a:endParaRPr lang="ru-RU" sz="140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sz="1400" dirty="0">
                <a:solidFill>
                  <a:schemeClr val="tx1"/>
                </a:solidFill>
              </a:rPr>
              <a:t>Результат представлен в понятном для врача виде: обнаруженные нарушения отмечаются непосредственно на изображении, а автоматическую разметку можно вручную скорректировать и подтвердить.</a:t>
            </a:r>
          </a:p>
          <a:p>
            <a:pPr>
              <a:defRPr/>
            </a:pPr>
            <a:endParaRPr lang="ru-RU" sz="140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sz="1400" dirty="0">
                <a:solidFill>
                  <a:schemeClr val="tx1"/>
                </a:solidFill>
              </a:rPr>
              <a:t>Решение поддерживает интеграцию с PACS, работает через браузер в полноэкранном режиме и благодаря лёгкой архитектуре не требует мощного компьютера или специализированной рабочей станции.</a:t>
            </a:r>
          </a:p>
        </p:txBody>
      </p:sp>
      <p:sp>
        <p:nvSpPr>
          <p:cNvPr id="3216555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897380"/>
            <a:ext cx="4957144" cy="4303395"/>
          </a:xfrm>
        </p:spPr>
        <p:txBody>
          <a:bodyPr>
            <a:normAutofit lnSpcReduction="10000"/>
          </a:bodyPr>
          <a:lstStyle/>
          <a:p>
            <a:pPr>
              <a:buFontTx/>
              <a:buChar char="-"/>
              <a:defRPr/>
            </a:pPr>
            <a:r>
              <a:rPr lang="ru-RU" sz="1400" b="1" dirty="0">
                <a:solidFill>
                  <a:schemeClr val="tx1"/>
                </a:solidFill>
              </a:rPr>
              <a:t>DICOM Engine </a:t>
            </a:r>
            <a:r>
              <a:rPr lang="ru-RU" sz="1400" dirty="0">
                <a:solidFill>
                  <a:schemeClr val="tx1"/>
                </a:solidFill>
              </a:rPr>
              <a:t>— чтение изображения, метаданных и геометрии исследования;</a:t>
            </a:r>
          </a:p>
          <a:p>
            <a:pPr marL="0" indent="0">
              <a:buNone/>
              <a:defRPr/>
            </a:pPr>
            <a:endParaRPr lang="ru-RU" sz="1400" dirty="0">
              <a:solidFill>
                <a:schemeClr val="tx1"/>
              </a:solidFill>
            </a:endParaRPr>
          </a:p>
          <a:p>
            <a:pPr>
              <a:buFontTx/>
              <a:buChar char="-"/>
              <a:defRPr/>
            </a:pPr>
            <a:r>
              <a:rPr lang="ru-RU" sz="1400" b="1" dirty="0">
                <a:solidFill>
                  <a:schemeClr val="tx1"/>
                </a:solidFill>
              </a:rPr>
              <a:t>AI/CV Engine </a:t>
            </a:r>
            <a:r>
              <a:rPr lang="ru-RU" sz="1400" dirty="0">
                <a:solidFill>
                  <a:schemeClr val="tx1"/>
                </a:solidFill>
              </a:rPr>
              <a:t>— распознавание области, анатомических ориентиров и автоматическая разметка;</a:t>
            </a:r>
          </a:p>
          <a:p>
            <a:pPr marL="0" indent="0">
              <a:buNone/>
              <a:defRPr/>
            </a:pPr>
            <a:endParaRPr lang="ru-RU" sz="1400" dirty="0">
              <a:solidFill>
                <a:schemeClr val="tx1"/>
              </a:solidFill>
            </a:endParaRPr>
          </a:p>
          <a:p>
            <a:pPr>
              <a:buFontTx/>
              <a:buChar char="-"/>
              <a:defRPr/>
            </a:pPr>
            <a:r>
              <a:rPr lang="ru-RU" sz="1400" b="1" dirty="0">
                <a:solidFill>
                  <a:schemeClr val="tx1"/>
                </a:solidFill>
              </a:rPr>
              <a:t>Quality Engine </a:t>
            </a:r>
            <a:r>
              <a:rPr lang="ru-RU" sz="1400" dirty="0">
                <a:solidFill>
                  <a:schemeClr val="tx1"/>
                </a:solidFill>
              </a:rPr>
              <a:t>— расчёт критериев и поиск нарушений;</a:t>
            </a:r>
          </a:p>
          <a:p>
            <a:pPr marL="0" indent="0">
              <a:buNone/>
              <a:defRPr/>
            </a:pPr>
            <a:endParaRPr lang="ru-RU" sz="1400" dirty="0">
              <a:solidFill>
                <a:schemeClr val="tx1"/>
              </a:solidFill>
            </a:endParaRPr>
          </a:p>
          <a:p>
            <a:pPr>
              <a:buFontTx/>
              <a:buChar char="-"/>
              <a:defRPr/>
            </a:pPr>
            <a:r>
              <a:rPr lang="ru-RU" sz="1400" b="1" dirty="0" err="1">
                <a:solidFill>
                  <a:schemeClr val="tx1"/>
                </a:solidFill>
              </a:rPr>
              <a:t>Visualization</a:t>
            </a:r>
            <a:r>
              <a:rPr lang="ru-RU" sz="1400" b="1" dirty="0">
                <a:solidFill>
                  <a:schemeClr val="tx1"/>
                </a:solidFill>
              </a:rPr>
              <a:t> Layer </a:t>
            </a:r>
            <a:r>
              <a:rPr lang="ru-RU" sz="1400" dirty="0">
                <a:solidFill>
                  <a:schemeClr val="tx1"/>
                </a:solidFill>
              </a:rPr>
              <a:t>— отображение разметки, измерений и зон ошибки;</a:t>
            </a:r>
          </a:p>
          <a:p>
            <a:pPr marL="0" indent="0">
              <a:buNone/>
              <a:defRPr/>
            </a:pPr>
            <a:endParaRPr lang="ru-RU" sz="1400" dirty="0">
              <a:solidFill>
                <a:schemeClr val="tx1"/>
              </a:solidFill>
            </a:endParaRPr>
          </a:p>
          <a:p>
            <a:pPr>
              <a:buFontTx/>
              <a:buChar char="-"/>
              <a:defRPr/>
            </a:pPr>
            <a:r>
              <a:rPr lang="ru-RU" sz="1400" b="1" dirty="0">
                <a:solidFill>
                  <a:schemeClr val="tx1"/>
                </a:solidFill>
              </a:rPr>
              <a:t>Human-</a:t>
            </a:r>
            <a:r>
              <a:rPr lang="ru-RU" sz="1400" b="1" dirty="0" err="1">
                <a:solidFill>
                  <a:schemeClr val="tx1"/>
                </a:solidFill>
              </a:rPr>
              <a:t>in</a:t>
            </a:r>
            <a:r>
              <a:rPr lang="ru-RU" sz="1400" b="1" dirty="0">
                <a:solidFill>
                  <a:schemeClr val="tx1"/>
                </a:solidFill>
              </a:rPr>
              <a:t>-</a:t>
            </a:r>
            <a:r>
              <a:rPr lang="ru-RU" sz="1400" b="1" dirty="0" err="1">
                <a:solidFill>
                  <a:schemeClr val="tx1"/>
                </a:solidFill>
              </a:rPr>
              <a:t>the-loop</a:t>
            </a:r>
            <a:r>
              <a:rPr lang="ru-RU" sz="1400" b="1" dirty="0">
                <a:solidFill>
                  <a:schemeClr val="tx1"/>
                </a:solidFill>
              </a:rPr>
              <a:t> Editor </a:t>
            </a:r>
            <a:r>
              <a:rPr lang="ru-RU" sz="1400" dirty="0">
                <a:solidFill>
                  <a:schemeClr val="tx1"/>
                </a:solidFill>
              </a:rPr>
              <a:t>— ручная корректировка специалистом;</a:t>
            </a:r>
          </a:p>
          <a:p>
            <a:pPr marL="0" indent="0">
              <a:buNone/>
              <a:defRPr/>
            </a:pPr>
            <a:endParaRPr lang="ru-RU" sz="1400" dirty="0">
              <a:solidFill>
                <a:schemeClr val="tx1"/>
              </a:solidFill>
            </a:endParaRPr>
          </a:p>
          <a:p>
            <a:pPr>
              <a:buFontTx/>
              <a:buChar char="-"/>
              <a:defRPr/>
            </a:pPr>
            <a:r>
              <a:rPr lang="ru-RU" sz="1400" b="1" dirty="0" err="1">
                <a:solidFill>
                  <a:schemeClr val="tx1"/>
                </a:solidFill>
              </a:rPr>
              <a:t>Integration</a:t>
            </a:r>
            <a:r>
              <a:rPr lang="ru-RU" sz="1400" b="1" dirty="0">
                <a:solidFill>
                  <a:schemeClr val="tx1"/>
                </a:solidFill>
              </a:rPr>
              <a:t> Layer </a:t>
            </a:r>
            <a:r>
              <a:rPr lang="ru-RU" sz="1400" dirty="0">
                <a:solidFill>
                  <a:schemeClr val="tx1"/>
                </a:solidFill>
              </a:rPr>
              <a:t>— формирование структурированного результата и взаимодействие с PACS.</a:t>
            </a:r>
          </a:p>
        </p:txBody>
      </p:sp>
      <p:sp>
        <p:nvSpPr>
          <p:cNvPr id="60750015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5867363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ТЕХНИЧЕСКАЯ ПРОРАБОТКА РЕШЕНИЯ</a:t>
            </a:r>
          </a:p>
        </p:txBody>
      </p:sp>
      <p:sp>
        <p:nvSpPr>
          <p:cNvPr id="87825378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37313" y="1476583"/>
            <a:ext cx="5214724" cy="615735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1600" b="1" dirty="0">
                <a:solidFill>
                  <a:schemeClr val="accent5"/>
                </a:solidFill>
              </a:rPr>
              <a:t>Сервис построен по модульному принципу:</a:t>
            </a:r>
          </a:p>
          <a:p>
            <a:pPr>
              <a:lnSpc>
                <a:spcPct val="100000"/>
              </a:lnSpc>
              <a:defRPr/>
            </a:pPr>
            <a:endParaRPr lang="ru-RU" sz="16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7953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86554" name="Скругленный прямоугольник 1"/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28869434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95743939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733834" cy="376138"/>
          </a:xfrm>
        </p:spPr>
        <p:txBody>
          <a:bodyPr/>
          <a:lstStyle/>
          <a:p>
            <a:pPr>
              <a:defRPr/>
            </a:pPr>
            <a:endParaRPr lang="ru-RU" dirty="0"/>
          </a:p>
        </p:txBody>
      </p:sp>
      <p:sp>
        <p:nvSpPr>
          <p:cNvPr id="53" name="Номер слайда 12">
            <a:extLst>
              <a:ext uri="{FF2B5EF4-FFF2-40B4-BE49-F238E27FC236}">
                <a16:creationId xmlns:a16="http://schemas.microsoft.com/office/drawing/2014/main" id="{A8A64C13-0D66-48C9-BEA5-56FD0564014C}"/>
              </a:ext>
            </a:extLst>
          </p:cNvPr>
          <p:cNvSpPr txBox="1">
            <a:spLocks/>
          </p:cNvSpPr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ctr" defTabSz="914220" rtl="0">
              <a:defRPr sz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52DCC5B9-D646-4B76-891F-6FF4E74E9CB4}" type="slidenum">
              <a:rPr lang="ru-RU" smtClean="0">
                <a:solidFill>
                  <a:schemeClr val="bg1"/>
                </a:solidFill>
              </a:rPr>
              <a:pPr>
                <a:defRPr/>
              </a:pPr>
              <a:t>10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Текст 1">
            <a:extLst>
              <a:ext uri="{FF2B5EF4-FFF2-40B4-BE49-F238E27FC236}">
                <a16:creationId xmlns:a16="http://schemas.microsoft.com/office/drawing/2014/main" id="{66BF9014-DA14-402F-9B29-F8E47EC6A4C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auto">
          <a:xfrm>
            <a:off x="346075" y="1705625"/>
            <a:ext cx="2526079" cy="122913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algn="ctr">
              <a:defRPr/>
            </a:pPr>
            <a:r>
              <a:rPr lang="ru-RU" sz="1800" b="1" dirty="0"/>
              <a:t>Загрузка снимка в формате </a:t>
            </a:r>
            <a:r>
              <a:rPr lang="en-US" sz="1800" b="1" dirty="0"/>
              <a:t>DICOM</a:t>
            </a:r>
            <a:r>
              <a:rPr lang="ru-RU" sz="1800" b="1" dirty="0"/>
              <a:t> и </a:t>
            </a:r>
            <a:r>
              <a:rPr lang="en-US" sz="1800" b="1" dirty="0"/>
              <a:t>ZIP</a:t>
            </a:r>
            <a:endParaRPr lang="ru-RU" sz="1800" b="1" dirty="0"/>
          </a:p>
        </p:txBody>
      </p:sp>
      <p:cxnSp>
        <p:nvCxnSpPr>
          <p:cNvPr id="60" name="Прямая соединительная линия 33">
            <a:extLst>
              <a:ext uri="{FF2B5EF4-FFF2-40B4-BE49-F238E27FC236}">
                <a16:creationId xmlns:a16="http://schemas.microsoft.com/office/drawing/2014/main" id="{C6062954-638C-4EFD-AE1C-C74258BABCAB}"/>
              </a:ext>
            </a:extLst>
          </p:cNvPr>
          <p:cNvCxnSpPr/>
          <p:nvPr/>
        </p:nvCxnSpPr>
        <p:spPr bwMode="auto"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Прямая соединительная линия 34">
            <a:extLst>
              <a:ext uri="{FF2B5EF4-FFF2-40B4-BE49-F238E27FC236}">
                <a16:creationId xmlns:a16="http://schemas.microsoft.com/office/drawing/2014/main" id="{88595735-B476-467A-A601-D85B48F51A4C}"/>
              </a:ext>
            </a:extLst>
          </p:cNvPr>
          <p:cNvCxnSpPr/>
          <p:nvPr/>
        </p:nvCxnSpPr>
        <p:spPr bwMode="auto"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Прямая соединительная линия 35">
            <a:extLst>
              <a:ext uri="{FF2B5EF4-FFF2-40B4-BE49-F238E27FC236}">
                <a16:creationId xmlns:a16="http://schemas.microsoft.com/office/drawing/2014/main" id="{6AB01AB7-23E1-4B87-8289-8019E5A878D7}"/>
              </a:ext>
            </a:extLst>
          </p:cNvPr>
          <p:cNvCxnSpPr/>
          <p:nvPr/>
        </p:nvCxnSpPr>
        <p:spPr bwMode="auto"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36">
            <a:extLst>
              <a:ext uri="{FF2B5EF4-FFF2-40B4-BE49-F238E27FC236}">
                <a16:creationId xmlns:a16="http://schemas.microsoft.com/office/drawing/2014/main" id="{6FE03846-0989-4E93-A4CD-C8A894488263}"/>
              </a:ext>
            </a:extLst>
          </p:cNvPr>
          <p:cNvCxnSpPr/>
          <p:nvPr/>
        </p:nvCxnSpPr>
        <p:spPr bwMode="auto"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37">
            <a:extLst>
              <a:ext uri="{FF2B5EF4-FFF2-40B4-BE49-F238E27FC236}">
                <a16:creationId xmlns:a16="http://schemas.microsoft.com/office/drawing/2014/main" id="{0D979BF8-B952-4160-99CC-D242C147BB3D}"/>
              </a:ext>
            </a:extLst>
          </p:cNvPr>
          <p:cNvCxnSpPr/>
          <p:nvPr/>
        </p:nvCxnSpPr>
        <p:spPr bwMode="auto"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единительная линия 38">
            <a:extLst>
              <a:ext uri="{FF2B5EF4-FFF2-40B4-BE49-F238E27FC236}">
                <a16:creationId xmlns:a16="http://schemas.microsoft.com/office/drawing/2014/main" id="{EDB6534B-A7AB-4C00-A2FA-C36124111CFB}"/>
              </a:ext>
            </a:extLst>
          </p:cNvPr>
          <p:cNvCxnSpPr/>
          <p:nvPr/>
        </p:nvCxnSpPr>
        <p:spPr bwMode="auto"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39">
            <a:extLst>
              <a:ext uri="{FF2B5EF4-FFF2-40B4-BE49-F238E27FC236}">
                <a16:creationId xmlns:a16="http://schemas.microsoft.com/office/drawing/2014/main" id="{A18FAF73-65A0-45A1-8C3E-C0A8D35E4CC7}"/>
              </a:ext>
            </a:extLst>
          </p:cNvPr>
          <p:cNvCxnSpPr/>
          <p:nvPr/>
        </p:nvCxnSpPr>
        <p:spPr bwMode="auto"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Прямая соединительная линия 40">
            <a:extLst>
              <a:ext uri="{FF2B5EF4-FFF2-40B4-BE49-F238E27FC236}">
                <a16:creationId xmlns:a16="http://schemas.microsoft.com/office/drawing/2014/main" id="{FC718ED6-C11B-4612-9F18-AD4CD129855B}"/>
              </a:ext>
            </a:extLst>
          </p:cNvPr>
          <p:cNvCxnSpPr/>
          <p:nvPr/>
        </p:nvCxnSpPr>
        <p:spPr bwMode="auto"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Прямая соединительная линия 41">
            <a:extLst>
              <a:ext uri="{FF2B5EF4-FFF2-40B4-BE49-F238E27FC236}">
                <a16:creationId xmlns:a16="http://schemas.microsoft.com/office/drawing/2014/main" id="{4A4E5705-7945-4BE4-8B7B-BF6D183E3002}"/>
              </a:ext>
            </a:extLst>
          </p:cNvPr>
          <p:cNvCxnSpPr/>
          <p:nvPr/>
        </p:nvCxnSpPr>
        <p:spPr bwMode="auto"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Скругленный прямоугольник 42">
            <a:extLst>
              <a:ext uri="{FF2B5EF4-FFF2-40B4-BE49-F238E27FC236}">
                <a16:creationId xmlns:a16="http://schemas.microsoft.com/office/drawing/2014/main" id="{300BFBFB-08BC-4555-87C0-9B0A5B86D9AB}"/>
              </a:ext>
            </a:extLst>
          </p:cNvPr>
          <p:cNvSpPr/>
          <p:nvPr/>
        </p:nvSpPr>
        <p:spPr bwMode="auto">
          <a:xfrm>
            <a:off x="1191126" y="3508049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1</a:t>
            </a:r>
            <a:endParaRPr/>
          </a:p>
        </p:txBody>
      </p:sp>
      <p:sp>
        <p:nvSpPr>
          <p:cNvPr id="93" name="Скругленный прямоугольник 43">
            <a:extLst>
              <a:ext uri="{FF2B5EF4-FFF2-40B4-BE49-F238E27FC236}">
                <a16:creationId xmlns:a16="http://schemas.microsoft.com/office/drawing/2014/main" id="{7310B4A5-B3C8-4755-9E99-C764A6F5A913}"/>
              </a:ext>
            </a:extLst>
          </p:cNvPr>
          <p:cNvSpPr/>
          <p:nvPr/>
        </p:nvSpPr>
        <p:spPr bwMode="auto">
          <a:xfrm>
            <a:off x="3412397" y="3506136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2</a:t>
            </a:r>
            <a:endParaRPr/>
          </a:p>
        </p:txBody>
      </p:sp>
      <p:sp>
        <p:nvSpPr>
          <p:cNvPr id="94" name="Скругленный прямоугольник 44">
            <a:extLst>
              <a:ext uri="{FF2B5EF4-FFF2-40B4-BE49-F238E27FC236}">
                <a16:creationId xmlns:a16="http://schemas.microsoft.com/office/drawing/2014/main" id="{75B2D2F9-111E-42D6-933F-928F5459898F}"/>
              </a:ext>
            </a:extLst>
          </p:cNvPr>
          <p:cNvSpPr/>
          <p:nvPr/>
        </p:nvSpPr>
        <p:spPr bwMode="auto">
          <a:xfrm>
            <a:off x="5658594" y="351625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3</a:t>
            </a:r>
            <a:endParaRPr/>
          </a:p>
        </p:txBody>
      </p:sp>
      <p:sp>
        <p:nvSpPr>
          <p:cNvPr id="95" name="Скругленный прямоугольник 52">
            <a:extLst>
              <a:ext uri="{FF2B5EF4-FFF2-40B4-BE49-F238E27FC236}">
                <a16:creationId xmlns:a16="http://schemas.microsoft.com/office/drawing/2014/main" id="{83375D22-2797-4F86-B894-CBFBC676E86D}"/>
              </a:ext>
            </a:extLst>
          </p:cNvPr>
          <p:cNvSpPr/>
          <p:nvPr/>
        </p:nvSpPr>
        <p:spPr bwMode="auto">
          <a:xfrm>
            <a:off x="7889752" y="3506134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4</a:t>
            </a:r>
            <a:endParaRPr/>
          </a:p>
        </p:txBody>
      </p:sp>
      <p:sp>
        <p:nvSpPr>
          <p:cNvPr id="96" name="Скругленный прямоугольник 53">
            <a:extLst>
              <a:ext uri="{FF2B5EF4-FFF2-40B4-BE49-F238E27FC236}">
                <a16:creationId xmlns:a16="http://schemas.microsoft.com/office/drawing/2014/main" id="{ECB71278-D1AE-43A5-8BB0-CE6E8F92EE79}"/>
              </a:ext>
            </a:extLst>
          </p:cNvPr>
          <p:cNvSpPr/>
          <p:nvPr/>
        </p:nvSpPr>
        <p:spPr bwMode="auto">
          <a:xfrm>
            <a:off x="10113011" y="353862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5</a:t>
            </a:r>
            <a:endParaRPr/>
          </a:p>
        </p:txBody>
      </p:sp>
      <p:sp>
        <p:nvSpPr>
          <p:cNvPr id="97" name="Скругленный прямоугольник 13">
            <a:extLst>
              <a:ext uri="{FF2B5EF4-FFF2-40B4-BE49-F238E27FC236}">
                <a16:creationId xmlns:a16="http://schemas.microsoft.com/office/drawing/2014/main" id="{3F7F2DC1-4C3D-4547-BF7D-DD7EE4C14FF4}"/>
              </a:ext>
            </a:extLst>
          </p:cNvPr>
          <p:cNvSpPr/>
          <p:nvPr/>
        </p:nvSpPr>
        <p:spPr bwMode="auto"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09" name="Скругленный прямоугольник 15">
            <a:extLst>
              <a:ext uri="{FF2B5EF4-FFF2-40B4-BE49-F238E27FC236}">
                <a16:creationId xmlns:a16="http://schemas.microsoft.com/office/drawing/2014/main" id="{C25B5D10-1512-4416-8F10-3F858F339244}"/>
              </a:ext>
            </a:extLst>
          </p:cNvPr>
          <p:cNvSpPr/>
          <p:nvPr/>
        </p:nvSpPr>
        <p:spPr bwMode="auto"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10" name="Скругленный прямоугольник 16">
            <a:extLst>
              <a:ext uri="{FF2B5EF4-FFF2-40B4-BE49-F238E27FC236}">
                <a16:creationId xmlns:a16="http://schemas.microsoft.com/office/drawing/2014/main" id="{CBB286FD-8164-4650-A28C-7AC93B1F13A4}"/>
              </a:ext>
            </a:extLst>
          </p:cNvPr>
          <p:cNvSpPr/>
          <p:nvPr/>
        </p:nvSpPr>
        <p:spPr bwMode="auto"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11" name="Скругленный прямоугольник 17">
            <a:extLst>
              <a:ext uri="{FF2B5EF4-FFF2-40B4-BE49-F238E27FC236}">
                <a16:creationId xmlns:a16="http://schemas.microsoft.com/office/drawing/2014/main" id="{987642A9-879F-4C8C-959C-1D51B5DF6AE3}"/>
              </a:ext>
            </a:extLst>
          </p:cNvPr>
          <p:cNvSpPr/>
          <p:nvPr/>
        </p:nvSpPr>
        <p:spPr bwMode="auto"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12" name="Скругленный прямоугольник 18">
            <a:extLst>
              <a:ext uri="{FF2B5EF4-FFF2-40B4-BE49-F238E27FC236}">
                <a16:creationId xmlns:a16="http://schemas.microsoft.com/office/drawing/2014/main" id="{310E95DB-8647-4DE0-BFD3-CFEA3CC3E8E6}"/>
              </a:ext>
            </a:extLst>
          </p:cNvPr>
          <p:cNvSpPr/>
          <p:nvPr/>
        </p:nvSpPr>
        <p:spPr bwMode="auto"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13" name="Скругленный прямоугольник 9">
            <a:extLst>
              <a:ext uri="{FF2B5EF4-FFF2-40B4-BE49-F238E27FC236}">
                <a16:creationId xmlns:a16="http://schemas.microsoft.com/office/drawing/2014/main" id="{2F4DA60B-955D-4D16-88D5-26C2544CD267}"/>
              </a:ext>
            </a:extLst>
          </p:cNvPr>
          <p:cNvSpPr/>
          <p:nvPr/>
        </p:nvSpPr>
        <p:spPr bwMode="auto">
          <a:xfrm>
            <a:off x="346075" y="324562"/>
            <a:ext cx="609768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4" name="Заголовок 13">
            <a:extLst>
              <a:ext uri="{FF2B5EF4-FFF2-40B4-BE49-F238E27FC236}">
                <a16:creationId xmlns:a16="http://schemas.microsoft.com/office/drawing/2014/main" id="{DA326B42-EF31-487E-A4CF-F74217A1EAA8}"/>
              </a:ext>
            </a:extLst>
          </p:cNvPr>
          <p:cNvSpPr txBox="1">
            <a:spLocks/>
          </p:cNvSpPr>
          <p:nvPr/>
        </p:nvSpPr>
        <p:spPr bwMode="auto">
          <a:xfrm>
            <a:off x="525817" y="456851"/>
            <a:ext cx="5867363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/>
              </a:defRPr>
            </a:lvl1pPr>
          </a:lstStyle>
          <a:p>
            <a:pPr>
              <a:defRPr/>
            </a:pPr>
            <a:r>
              <a:rPr lang="ru-RU" dirty="0"/>
              <a:t>ТЕХНИЧЕСКАЯ ПРОРАБОТКА РЕШЕНИЯ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91D941E-F66E-4F44-A3CE-F3D040A91BB8}"/>
              </a:ext>
            </a:extLst>
          </p:cNvPr>
          <p:cNvSpPr txBox="1"/>
          <p:nvPr/>
        </p:nvSpPr>
        <p:spPr>
          <a:xfrm>
            <a:off x="2745797" y="5040898"/>
            <a:ext cx="23990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chemeClr val="bg1"/>
                </a:solidFill>
              </a:rPr>
              <a:t>чтение и калибровка пикселя 1,05 × 0,60 мм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11420201-FE3F-4608-9902-E498D18543AD}"/>
              </a:ext>
            </a:extLst>
          </p:cNvPr>
          <p:cNvSpPr txBox="1"/>
          <p:nvPr/>
        </p:nvSpPr>
        <p:spPr>
          <a:xfrm>
            <a:off x="5391575" y="1976641"/>
            <a:ext cx="13854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Разметка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E7AD14ED-B11D-4956-8CC4-D4645BDC108E}"/>
              </a:ext>
            </a:extLst>
          </p:cNvPr>
          <p:cNvSpPr txBox="1"/>
          <p:nvPr/>
        </p:nvSpPr>
        <p:spPr>
          <a:xfrm>
            <a:off x="7238082" y="5256183"/>
            <a:ext cx="23135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chemeClr val="bg1"/>
                </a:solidFill>
              </a:rPr>
              <a:t>Выделение зоны проблемы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4009993-7454-4B4E-A845-64584A191ACD}"/>
              </a:ext>
            </a:extLst>
          </p:cNvPr>
          <p:cNvSpPr txBox="1"/>
          <p:nvPr/>
        </p:nvSpPr>
        <p:spPr bwMode="auto">
          <a:xfrm>
            <a:off x="9174831" y="1730521"/>
            <a:ext cx="267109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chemeClr val="bg1"/>
                </a:solidFill>
              </a:rPr>
              <a:t>Описание источника проблемы 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C11CCE9-1A67-47EB-9197-E354846C88E1}"/>
              </a:ext>
            </a:extLst>
          </p:cNvPr>
          <p:cNvSpPr txBox="1"/>
          <p:nvPr/>
        </p:nvSpPr>
        <p:spPr>
          <a:xfrm>
            <a:off x="249874" y="5015829"/>
            <a:ext cx="1899695" cy="1200329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wrap="square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Средний </a:t>
            </a:r>
            <a:r>
              <a:rPr lang="en-US" dirty="0">
                <a:solidFill>
                  <a:schemeClr val="bg1"/>
                </a:solidFill>
              </a:rPr>
              <a:t>ROC-AUC</a:t>
            </a:r>
            <a:r>
              <a:rPr lang="ru-RU" dirty="0">
                <a:solidFill>
                  <a:schemeClr val="bg1"/>
                </a:solidFill>
              </a:rPr>
              <a:t> </a:t>
            </a:r>
            <a:r>
              <a:rPr lang="ru-RU" b="1" dirty="0">
                <a:solidFill>
                  <a:schemeClr val="bg1"/>
                </a:solidFill>
              </a:rPr>
              <a:t>0,77</a:t>
            </a:r>
            <a:r>
              <a:rPr lang="ru-RU" dirty="0">
                <a:solidFill>
                  <a:schemeClr val="bg1"/>
                </a:solidFill>
              </a:rPr>
              <a:t> по пяти типам нарушений</a:t>
            </a:r>
          </a:p>
        </p:txBody>
      </p:sp>
      <p:cxnSp>
        <p:nvCxnSpPr>
          <p:cNvPr id="121" name="Прямая соединительная линия 33">
            <a:extLst>
              <a:ext uri="{FF2B5EF4-FFF2-40B4-BE49-F238E27FC236}">
                <a16:creationId xmlns:a16="http://schemas.microsoft.com/office/drawing/2014/main" id="{8D174B1D-389D-4E7F-8C65-32CDA32A88D3}"/>
              </a:ext>
            </a:extLst>
          </p:cNvPr>
          <p:cNvCxnSpPr>
            <a:cxnSpLocks/>
            <a:stCxn id="120" idx="3"/>
            <a:endCxn id="111" idx="1"/>
          </p:cNvCxnSpPr>
          <p:nvPr/>
        </p:nvCxnSpPr>
        <p:spPr bwMode="auto">
          <a:xfrm>
            <a:off x="2149569" y="5615994"/>
            <a:ext cx="322309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85500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183568" name="Скругленный прямоугольник 7"/>
          <p:cNvSpPr/>
          <p:nvPr/>
        </p:nvSpPr>
        <p:spPr bwMode="auto">
          <a:xfrm>
            <a:off x="926675" y="4315553"/>
            <a:ext cx="2772582" cy="2349482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95246643" name="Скругленный прямоугольник 9"/>
          <p:cNvSpPr/>
          <p:nvPr/>
        </p:nvSpPr>
        <p:spPr bwMode="auto">
          <a:xfrm>
            <a:off x="4528780" y="4293283"/>
            <a:ext cx="2950059" cy="2371752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66709802" name="Скругленный прямоугольник 10"/>
          <p:cNvSpPr/>
          <p:nvPr/>
        </p:nvSpPr>
        <p:spPr bwMode="auto">
          <a:xfrm>
            <a:off x="8425981" y="4293283"/>
            <a:ext cx="2950058" cy="2371752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3486554" name="Скругленный прямоугольник 1"/>
          <p:cNvSpPr/>
          <p:nvPr/>
        </p:nvSpPr>
        <p:spPr bwMode="auto">
          <a:xfrm>
            <a:off x="346075" y="324562"/>
            <a:ext cx="43732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4567495" name="Скругленный прямоугольник 6"/>
          <p:cNvSpPr/>
          <p:nvPr/>
        </p:nvSpPr>
        <p:spPr bwMode="auto">
          <a:xfrm>
            <a:off x="429141" y="1366572"/>
            <a:ext cx="11524339" cy="2812666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28869434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30935763" name="Текст 2"/>
          <p:cNvSpPr>
            <a:spLocks noGrp="1"/>
          </p:cNvSpPr>
          <p:nvPr>
            <p:ph type="body" sz="quarter" idx="26"/>
          </p:nvPr>
        </p:nvSpPr>
        <p:spPr bwMode="auto">
          <a:xfrm rot="16200000">
            <a:off x="1303578" y="4486433"/>
            <a:ext cx="1568331" cy="192357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1" dirty="0">
                <a:solidFill>
                  <a:schemeClr val="tx1"/>
                </a:solidFill>
              </a:rPr>
              <a:t>ИСХОДНЫЙ</a:t>
            </a:r>
          </a:p>
        </p:txBody>
      </p:sp>
      <p:sp>
        <p:nvSpPr>
          <p:cNvPr id="1021543870" name="Текст 3"/>
          <p:cNvSpPr>
            <a:spLocks noGrp="1"/>
          </p:cNvSpPr>
          <p:nvPr>
            <p:ph type="body" sz="quarter" idx="31"/>
          </p:nvPr>
        </p:nvSpPr>
        <p:spPr bwMode="auto">
          <a:xfrm rot="16200000">
            <a:off x="3979419" y="5204424"/>
            <a:ext cx="2217885" cy="513784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1" dirty="0">
                <a:solidFill>
                  <a:schemeClr val="tx1"/>
                </a:solidFill>
              </a:rPr>
              <a:t>ПОСЛЕ ОБРАБОТКИ</a:t>
            </a:r>
          </a:p>
        </p:txBody>
      </p:sp>
      <p:sp>
        <p:nvSpPr>
          <p:cNvPr id="1109396534" name="Текст 4"/>
          <p:cNvSpPr>
            <a:spLocks noGrp="1"/>
          </p:cNvSpPr>
          <p:nvPr>
            <p:ph type="body" sz="quarter" idx="32"/>
          </p:nvPr>
        </p:nvSpPr>
        <p:spPr bwMode="auto">
          <a:xfrm rot="16200000">
            <a:off x="8013806" y="5124660"/>
            <a:ext cx="1940609" cy="589808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1" dirty="0">
                <a:solidFill>
                  <a:schemeClr val="tx1"/>
                </a:solidFill>
              </a:rPr>
              <a:t>РУЧНАЯ ПРАВКА</a:t>
            </a:r>
          </a:p>
        </p:txBody>
      </p:sp>
      <p:sp>
        <p:nvSpPr>
          <p:cNvPr id="195743939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1911"/>
            <a:ext cx="4044073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УНИКАЛЬНОСТЬ РЕШЕНИЯ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A66575-0736-4DC6-A465-EB0BD5DEF786}"/>
              </a:ext>
            </a:extLst>
          </p:cNvPr>
          <p:cNvSpPr txBox="1"/>
          <p:nvPr/>
        </p:nvSpPr>
        <p:spPr>
          <a:xfrm>
            <a:off x="583007" y="1607873"/>
            <a:ext cx="11179852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b="1" dirty="0">
                <a:solidFill>
                  <a:schemeClr val="bg1"/>
                </a:solidFill>
              </a:rPr>
              <a:t>Простой и интуитивный интерфейс</a:t>
            </a:r>
            <a:r>
              <a:rPr lang="ru-RU" sz="1100" dirty="0">
                <a:solidFill>
                  <a:schemeClr val="bg1"/>
                </a:solidFill>
              </a:rPr>
              <a:t> — минимум действий для просмотра и проверки исследования.</a:t>
            </a:r>
          </a:p>
          <a:p>
            <a:r>
              <a:rPr lang="ru-RU" sz="1100" b="1" dirty="0">
                <a:solidFill>
                  <a:schemeClr val="bg1"/>
                </a:solidFill>
              </a:rPr>
              <a:t>Высокая скорость обработки</a:t>
            </a:r>
            <a:r>
              <a:rPr lang="ru-RU" sz="1100" dirty="0">
                <a:solidFill>
                  <a:schemeClr val="bg1"/>
                </a:solidFill>
              </a:rPr>
              <a:t> DICOM-данных без длительного ожидания результатов.</a:t>
            </a:r>
          </a:p>
          <a:p>
            <a:r>
              <a:rPr lang="ru-RU" sz="1100" b="1" dirty="0">
                <a:solidFill>
                  <a:schemeClr val="bg1"/>
                </a:solidFill>
              </a:rPr>
              <a:t>Наглядная визуализация</a:t>
            </a:r>
            <a:r>
              <a:rPr lang="ru-RU" sz="1100" dirty="0">
                <a:solidFill>
                  <a:schemeClr val="bg1"/>
                </a:solidFill>
              </a:rPr>
              <a:t> — разметка, измерения и выявленные нарушения отображаются непосредственно поверх исходного DICOM-изображения.</a:t>
            </a:r>
          </a:p>
          <a:p>
            <a:r>
              <a:rPr lang="ru-RU" sz="1100" b="1" dirty="0">
                <a:solidFill>
                  <a:schemeClr val="bg1"/>
                </a:solidFill>
              </a:rPr>
              <a:t>Пакетная загрузка</a:t>
            </a:r>
            <a:r>
              <a:rPr lang="ru-RU" sz="1100" dirty="0">
                <a:solidFill>
                  <a:schemeClr val="bg1"/>
                </a:solidFill>
              </a:rPr>
              <a:t> — возможность одновременно загрузить массив исследований и последовательно работать с ними в едином интерфейсе.</a:t>
            </a:r>
          </a:p>
          <a:p>
            <a:r>
              <a:rPr lang="ru-RU" sz="1100" b="1" dirty="0">
                <a:solidFill>
                  <a:schemeClr val="bg1"/>
                </a:solidFill>
              </a:rPr>
              <a:t>Полноэкранный режим</a:t>
            </a:r>
            <a:r>
              <a:rPr lang="ru-RU" sz="1100" dirty="0">
                <a:solidFill>
                  <a:schemeClr val="bg1"/>
                </a:solidFill>
              </a:rPr>
              <a:t> для комфортного анализа изображений на диагностическом мониторе.</a:t>
            </a:r>
          </a:p>
          <a:p>
            <a:r>
              <a:rPr lang="ru-RU" sz="1100" b="1" dirty="0">
                <a:solidFill>
                  <a:schemeClr val="bg1"/>
                </a:solidFill>
              </a:rPr>
              <a:t>Управление с клавиатуры</a:t>
            </a:r>
            <a:r>
              <a:rPr lang="ru-RU" sz="1100" dirty="0">
                <a:solidFill>
                  <a:schemeClr val="bg1"/>
                </a:solidFill>
              </a:rPr>
              <a:t> — быстрое переключение между снимками и исследованиями без лишних действий мышью.</a:t>
            </a:r>
          </a:p>
          <a:p>
            <a:r>
              <a:rPr lang="ru-RU" sz="1100" b="1" dirty="0">
                <a:solidFill>
                  <a:schemeClr val="bg1"/>
                </a:solidFill>
              </a:rPr>
              <a:t>Гибкий экспорт</a:t>
            </a:r>
            <a:r>
              <a:rPr lang="ru-RU" sz="1100" dirty="0">
                <a:solidFill>
                  <a:schemeClr val="bg1"/>
                </a:solidFill>
              </a:rPr>
              <a:t> — сохранение одного, выбранных или всех обработанных исследований в удобном формате.</a:t>
            </a:r>
          </a:p>
          <a:p>
            <a:r>
              <a:rPr lang="ru-RU" sz="1100" b="1" dirty="0">
                <a:solidFill>
                  <a:schemeClr val="bg1"/>
                </a:solidFill>
              </a:rPr>
              <a:t>Локальное развертывание</a:t>
            </a:r>
            <a:r>
              <a:rPr lang="ru-RU" sz="1100" dirty="0">
                <a:solidFill>
                  <a:schemeClr val="bg1"/>
                </a:solidFill>
              </a:rPr>
              <a:t> — сервис быстро устанавливается во внутреннем контуре медицинской организации и может полностью работать </a:t>
            </a:r>
            <a:r>
              <a:rPr lang="ru-RU" sz="1100" b="1" dirty="0">
                <a:solidFill>
                  <a:schemeClr val="bg1"/>
                </a:solidFill>
              </a:rPr>
              <a:t>без доступа к сети Интернет</a:t>
            </a:r>
            <a:r>
              <a:rPr lang="ru-RU" sz="1100" dirty="0">
                <a:solidFill>
                  <a:schemeClr val="bg1"/>
                </a:solidFill>
              </a:rPr>
              <a:t>.</a:t>
            </a:r>
          </a:p>
          <a:p>
            <a:r>
              <a:rPr lang="ru-RU" sz="1100" b="1" dirty="0">
                <a:solidFill>
                  <a:schemeClr val="bg1"/>
                </a:solidFill>
              </a:rPr>
              <a:t>Низкие требования к оборудованию</a:t>
            </a:r>
            <a:r>
              <a:rPr lang="ru-RU" sz="1100" dirty="0">
                <a:solidFill>
                  <a:schemeClr val="bg1"/>
                </a:solidFill>
              </a:rPr>
              <a:t> позволяют использовать существующие рабочие станции без дорогостоящей модернизации.</a:t>
            </a:r>
          </a:p>
          <a:p>
            <a:r>
              <a:rPr lang="ru-RU" sz="1100" b="1" dirty="0">
                <a:solidFill>
                  <a:schemeClr val="bg1"/>
                </a:solidFill>
              </a:rPr>
              <a:t>Заложенный потенциал к самообучению </a:t>
            </a:r>
            <a:r>
              <a:rPr lang="ru-RU" sz="1100" dirty="0">
                <a:solidFill>
                  <a:schemeClr val="bg1"/>
                </a:solidFill>
              </a:rPr>
              <a:t>— подтверждение специалистом правильности разметки позволит улучшить качество дальнейшей обработки новых данных.</a:t>
            </a:r>
          </a:p>
          <a:p>
            <a:endParaRPr lang="ru-RU" sz="1100" dirty="0">
              <a:solidFill>
                <a:schemeClr val="bg1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B1B6E8F-A636-48CD-AE89-B9BF7962C6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4695" y="4303278"/>
            <a:ext cx="1308268" cy="2367053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62CD422-F2BA-46CE-9FF6-8A9ECAB95D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3661" y="4291913"/>
            <a:ext cx="1269197" cy="2372847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DFD5865-08D0-4CC8-9821-B4B68425A2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9037" y="4285046"/>
            <a:ext cx="1308268" cy="238657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86554" name="Скругленный прямоугольник 1"/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28869434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12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53" name="Номер слайда 12">
            <a:extLst>
              <a:ext uri="{FF2B5EF4-FFF2-40B4-BE49-F238E27FC236}">
                <a16:creationId xmlns:a16="http://schemas.microsoft.com/office/drawing/2014/main" id="{A8A64C13-0D66-48C9-BEA5-56FD0564014C}"/>
              </a:ext>
            </a:extLst>
          </p:cNvPr>
          <p:cNvSpPr txBox="1">
            <a:spLocks/>
          </p:cNvSpPr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ctr" defTabSz="914220" rtl="0">
              <a:defRPr sz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52DCC5B9-D646-4B76-891F-6FF4E74E9CB4}" type="slidenum">
              <a:rPr lang="ru-RU" smtClean="0">
                <a:solidFill>
                  <a:schemeClr val="bg1"/>
                </a:solidFill>
              </a:rPr>
              <a:pPr>
                <a:defRPr/>
              </a:pPr>
              <a:t>12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13" name="Скругленный прямоугольник 9">
            <a:extLst>
              <a:ext uri="{FF2B5EF4-FFF2-40B4-BE49-F238E27FC236}">
                <a16:creationId xmlns:a16="http://schemas.microsoft.com/office/drawing/2014/main" id="{2F4DA60B-955D-4D16-88D5-26C2544CD267}"/>
              </a:ext>
            </a:extLst>
          </p:cNvPr>
          <p:cNvSpPr/>
          <p:nvPr/>
        </p:nvSpPr>
        <p:spPr bwMode="auto">
          <a:xfrm>
            <a:off x="346075" y="324562"/>
            <a:ext cx="4354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6DF0D2B-A42F-4650-8FA0-220094F4A48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29" r="584"/>
          <a:stretch/>
        </p:blipFill>
        <p:spPr>
          <a:xfrm>
            <a:off x="0" y="1321523"/>
            <a:ext cx="7549672" cy="47530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8" name="Заголовок 13">
            <a:extLst>
              <a:ext uri="{FF2B5EF4-FFF2-40B4-BE49-F238E27FC236}">
                <a16:creationId xmlns:a16="http://schemas.microsoft.com/office/drawing/2014/main" id="{69A94EA9-F3D4-4CCC-BAFD-8B469F7CCEF2}"/>
              </a:ext>
            </a:extLst>
          </p:cNvPr>
          <p:cNvSpPr txBox="1">
            <a:spLocks/>
          </p:cNvSpPr>
          <p:nvPr/>
        </p:nvSpPr>
        <p:spPr bwMode="auto">
          <a:xfrm>
            <a:off x="525817" y="451911"/>
            <a:ext cx="4044073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/>
              </a:defRPr>
            </a:lvl1pPr>
          </a:lstStyle>
          <a:p>
            <a:pPr>
              <a:defRPr/>
            </a:pPr>
            <a:r>
              <a:rPr lang="ru-RU" dirty="0"/>
              <a:t>УНИКАЛЬНОСТЬ РЕШЕНИЯ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99EF470-F43C-492B-80C0-279C5D5D48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3595" y="2099605"/>
            <a:ext cx="6178112" cy="47530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83652011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150</TotalTime>
  <Words>1265</Words>
  <Application>Microsoft Office PowerPoint</Application>
  <PresentationFormat>Широкоэкранный</PresentationFormat>
  <Paragraphs>136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Arial</vt:lpstr>
      <vt:lpstr>Calibri</vt:lpstr>
      <vt:lpstr>Montserrat</vt:lpstr>
      <vt:lpstr>Wingdings</vt:lpstr>
      <vt:lpstr>Для Академия инноваторов 16_9</vt:lpstr>
      <vt:lpstr>ЭВЕКТИО</vt:lpstr>
      <vt:lpstr>КОМАНДА «ЭВЕКТИО»</vt:lpstr>
      <vt:lpstr>КОМАНДА «ЭВЕКТИО»</vt:lpstr>
      <vt:lpstr>КОМАНДА «ЭВЕКТИО»</vt:lpstr>
      <vt:lpstr>КОРОТКО О РЕШЕНИИ</vt:lpstr>
      <vt:lpstr>ПОДРОБНОЕ ОПИСАНИЕ РЕШЕНИЯ</vt:lpstr>
      <vt:lpstr>МАРКЕТИНГОВАЯ ЧАСТЬ РЕШЕНИЯ</vt:lpstr>
      <vt:lpstr>Презентация PowerPoint</vt:lpstr>
      <vt:lpstr>ТЕХНИЧЕСКАЯ ПРОРАБОТКА РЕШЕНИЯ</vt:lpstr>
      <vt:lpstr>Презентация PowerPoint</vt:lpstr>
      <vt:lpstr>УНИКАЛЬНОСТЬ РЕШЕНИЯ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Zel</cp:lastModifiedBy>
  <cp:revision>132</cp:revision>
  <dcterms:created xsi:type="dcterms:W3CDTF">2023-05-15T07:36:23Z</dcterms:created>
  <dcterms:modified xsi:type="dcterms:W3CDTF">2026-09-28T13:06:58Z</dcterms:modified>
</cp:coreProperties>
</file>