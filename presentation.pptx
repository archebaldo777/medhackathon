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2" r:id="rId2"/>
    <p:sldId id="263" r:id="rId3"/>
    <p:sldId id="264" r:id="rId4"/>
    <p:sldId id="265" r:id="rId5"/>
    <p:sldId id="266" r:id="rId6"/>
    <p:sldId id="267" r:id="rId7"/>
    <p:sldId id="276" r:id="rId8"/>
    <p:sldId id="269" r:id="rId9"/>
    <p:sldId id="293" r:id="rId10"/>
    <p:sldId id="294" r:id="rId11"/>
    <p:sldId id="296" r:id="rId12"/>
    <p:sldId id="298" r:id="rId13"/>
    <p:sldId id="300" r:id="rId14"/>
    <p:sldId id="279" r:id="rId15"/>
    <p:sldId id="295" r:id="rId16"/>
    <p:sldId id="301" r:id="rId17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216" y="8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7999999999998E-2"/>
          <c:y val="0.12693499999999999"/>
          <c:w val="0.92608599999999996"/>
          <c:h val="0.66747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Исследования позвоночника</c:v>
                </c:pt>
              </c:strCache>
            </c:strRef>
          </c:tx>
          <c:spPr>
            <a:prstGeom prst="rect">
              <a:avLst/>
            </a:prstGeom>
            <a:gradFill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Ошибки в исследованиях</c:v>
                </c:pt>
              </c:strCache>
            </c:strRef>
          </c:cat>
          <c:val>
            <c:numRef>
              <c:f>Лист1!$B$2</c:f>
              <c:numCache>
                <c:formatCode>0.00%</c:formatCode>
                <c:ptCount val="1"/>
                <c:pt idx="0">
                  <c:v>0.43099999999999999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35-47D2-BF26-0B26516663F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Исследования проксимального отдела бедра</c:v>
                </c:pt>
              </c:strCache>
            </c:strRef>
          </c:tx>
          <c:spPr>
            <a:prstGeom prst="rect">
              <a:avLst/>
            </a:prstGeom>
            <a:gradFill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Ошибки в исследованиях</c:v>
                </c:pt>
              </c:strCache>
            </c:strRef>
          </c:cat>
          <c:val>
            <c:numRef>
              <c:f>Лист1!$C$2</c:f>
              <c:numCache>
                <c:formatCode>0.00%</c:formatCode>
                <c:ptCount val="1"/>
                <c:pt idx="0">
                  <c:v>0.45400000000000001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35-47D2-BF26-0B26516663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1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out"/>
        <c:minorTickMark val="none"/>
        <c:tickLblPos val="nextTo"/>
        <c:crossAx val="1688540351"/>
        <c:crosses val="autoZero"/>
        <c:crossBetween val="between"/>
        <c:majorUnit val="1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xfrm>
      <a:off x="346075" y="1424510"/>
      <a:ext cx="5749925" cy="4401748"/>
    </a:xfrm>
    <a:prstGeom prst="rect">
      <a:avLst/>
    </a:prstGeom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06EBC-152B-39B7-84F3-BD9F4D07ECD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051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538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52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ЭВЕКТИО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3741DD-A344-47FA-B1DF-82D244D2193E}"/>
              </a:ext>
            </a:extLst>
          </p:cNvPr>
          <p:cNvPicPr>
            <a:picLocks noGrp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9334" y="156245"/>
            <a:ext cx="2070782" cy="1672555"/>
          </a:xfr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330197" y="5659501"/>
            <a:ext cx="6561667" cy="757174"/>
          </a:xfrm>
        </p:spPr>
        <p:txBody>
          <a:bodyPr anchor="ctr">
            <a:normAutofit/>
          </a:bodyPr>
          <a:lstStyle/>
          <a:p>
            <a:pPr indent="0">
              <a:defRPr/>
            </a:pPr>
            <a:r>
              <a:rPr lang="en-US" dirty="0"/>
              <a:t>04 </a:t>
            </a:r>
            <a:r>
              <a:rPr lang="ru-RU" dirty="0"/>
              <a:t>Сервис искусственного интеллекта по оценке качества исследований плотности костей человека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7ABB3-518D-47AB-AD62-CB3B2E885C5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7" b="9107"/>
          <a:stretch>
            <a:fillRect/>
          </a:stretch>
        </p:blipFill>
        <p:spPr bwMode="auto">
          <a:xfrm>
            <a:off x="0" y="334963"/>
            <a:ext cx="6456363" cy="2971800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14802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Сервис сочетает автоматическую разметку с возможностью ручной коррекции специалистом, адаптирован для полноэкранной работы, работает во всех современных браузерах и не требует мощного оборудования благодаря малому размеру и низким системным требованиям.</a:t>
            </a:r>
            <a:endParaRPr dirty="0"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1" y="3883009"/>
            <a:ext cx="5869457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Захаров Андрей, </a:t>
            </a:r>
            <a:r>
              <a:rPr lang="en-US" dirty="0">
                <a:solidFill>
                  <a:schemeClr val="tx1"/>
                </a:solidFill>
              </a:rPr>
              <a:t>project-</a:t>
            </a:r>
            <a:r>
              <a:rPr lang="ru-RU" dirty="0">
                <a:solidFill>
                  <a:schemeClr val="tx1"/>
                </a:solidFill>
              </a:rPr>
              <a:t>менеджер, разработчик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Коллеги по работе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ФНКЦ РР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  <a:endParaRPr dirty="0"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4884824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 «ЭВЕКТИО»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81797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Локальный сервис, готовый к пилотному внедрению: встраивается в рабочий процесс медицинской организации и помогает автоматически выявлять ошибки DXA-исследований до их ручного анализа врачом.</a:t>
            </a:r>
            <a:endParaRPr dirty="0"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563945" y="1522006"/>
            <a:ext cx="372521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736229" y="4494881"/>
            <a:ext cx="3500143" cy="137975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Врач, научный сотрудник, разработчик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realzel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+79055660646</a:t>
            </a:r>
            <a:endParaRPr dirty="0"/>
          </a:p>
          <a:p>
            <a:pPr>
              <a:spcBef>
                <a:spcPts val="0"/>
              </a:spcBef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ФНКЦ РР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736229" y="3622118"/>
            <a:ext cx="1722566" cy="6720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Илья</a:t>
            </a: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Борисов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1325467" y="1522006"/>
            <a:ext cx="372521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013460-640F-463E-86C4-A6AB96C59AF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45" t="3988" r="17436" b="61059"/>
          <a:stretch/>
        </p:blipFill>
        <p:spPr bwMode="auto">
          <a:xfrm>
            <a:off x="2141781" y="1795645"/>
            <a:ext cx="2009787" cy="1740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1BBE72-7ACD-4D82-998E-4541B8CF375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900"/>
                    </a14:imgEffect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02" b="2002"/>
          <a:stretch/>
        </p:blipFill>
        <p:spPr bwMode="auto">
          <a:xfrm>
            <a:off x="7511580" y="1861108"/>
            <a:ext cx="1864521" cy="1668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67837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«ЭВЕКТИО»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1497751" y="4494881"/>
            <a:ext cx="3362686" cy="1371449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Project-</a:t>
            </a:r>
            <a:r>
              <a:rPr lang="ru-RU" sz="1200" dirty="0">
                <a:solidFill>
                  <a:schemeClr val="tx1"/>
                </a:solidFill>
              </a:rPr>
              <a:t>менеджер, разработчик</a:t>
            </a: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zakharov_aa</a:t>
            </a:r>
            <a:endParaRPr lang="ru-RU"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+79036845048</a:t>
            </a:r>
            <a:endParaRPr lang="ru-RU"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Montserrat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ФНКЦ РР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1497751" y="3622118"/>
            <a:ext cx="2841788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Андрей</a:t>
            </a:r>
          </a:p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Захаров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9928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«ЭВЕКТИО»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10879900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Нас двое: врач и инженер. Это наш первый </a:t>
            </a:r>
            <a:r>
              <a:rPr lang="ru-RU" dirty="0" err="1">
                <a:solidFill>
                  <a:schemeClr val="tx1"/>
                </a:solidFill>
              </a:rPr>
              <a:t>хакатон</a:t>
            </a:r>
            <a:r>
              <a:rPr lang="ru-RU" dirty="0">
                <a:solidFill>
                  <a:schemeClr val="tx1"/>
                </a:solidFill>
              </a:rPr>
              <a:t>, и для нас он стал поводом объединить навыки и проверить, что мы можем создать вместе. Соревновательный дух нам близок: интересно не только спорить друг с другом о том, чьё решение лучше, но и выступить одной командой, чтобы побороться с другими участниками.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108799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Главным вызовом стало совмещение основной работы с разработкой проекта. Приходилось находить время, договариваться о приоритетах и выбирать, что действительно важно успеть. При этом планку качества мы задали прежде всего для себя: хотелось сделать продукт, которым самим было бы приятно пользоваться и который можно с уверенностью показать другим. </a:t>
            </a:r>
            <a:endParaRPr dirty="0"/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108799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Эта задача оказалась на пересечении наших интересов — медицины и технологий. Врачебный взгляд помогает понять, что действительно нужно специалисту в повседневной работе, а инженерный — найти способ это реализовать. Нас привлекла возможность создать решение для конкретной медицинской проблемы и вложить в него опыт каждого из нас.</a:t>
            </a:r>
            <a:endParaRPr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Montserrat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42798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Мы разработали прототип сервиса автоматизированного контроля качества DXA — рентгеновской денситометрии. Он анализирует DICOM-снимки поясничного отдела позвоночника и проксимального отдела бедра, определяет область исследования и проверяет корректность укладки и геометрию изображения. Методы компьютерного зрения и машинного обучения помогают выявлять различные нарушения и размечать анатомические области.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Особое внимание мы уделили интерпретации: специалист видит, где находится проблемная зона, может проверить и самостоятельно скорректировать разметку. 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Результаты оформляются в CSV/XLSX и DICOM SR, что создаёт основу для интеграции с медицинскими системами хранения и просмотра изображений — PACS.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42798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Мы видим наш сервис как помощника для специалистов кабинетов денситометрии, диагностических центров и клиник. Его задача — помогать замечать ошибки ещё до интерпретации исследования, сокращать время проверки и делать контроль качества более единообразным. При этом окончательное решение остаётся за специалистом.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Следующий шаг — пилотное применение совместно с клиниками: проверка на исследованиях с разных аппаратов, оценка эффективности в повседневной работе и интеграция в привычный интерфейс врача. В дальнейшем сервис можно развивать как отдельный продукт для клиник или встраиваемый модуль для PACS и производителей оборудования. Дополнительные направления — обучение персонала и аудит качества архивных исследований.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КОРОТКО О РЕШЕНИИ</a:t>
            </a:r>
            <a:endParaRPr dirty="0"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21772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663103"/>
            <a:ext cx="5574868" cy="453767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«</a:t>
            </a:r>
            <a:r>
              <a:rPr lang="ru-RU" dirty="0" err="1">
                <a:solidFill>
                  <a:schemeClr val="tx1"/>
                </a:solidFill>
              </a:rPr>
              <a:t>Эвектио</a:t>
            </a:r>
            <a:r>
              <a:rPr lang="en-US" dirty="0">
                <a:solidFill>
                  <a:schemeClr val="tx1"/>
                </a:solidFill>
              </a:rPr>
              <a:t> DXA</a:t>
            </a:r>
            <a:r>
              <a:rPr lang="ru-RU" dirty="0">
                <a:solidFill>
                  <a:schemeClr val="tx1"/>
                </a:solidFill>
              </a:rPr>
              <a:t>» — локальный сервис автоматического контроля качества DXA-исследований, готовый к пилотному внедрению.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Система анализирует DICOM-изображения поясничного отдела позвоночника и проксимального отдела бедра, автоматически определяет область исследования, выполняет разметку и проверяет соответствие заданным критериям качества.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Врач получает результат до ручного анализа снимка, видит обнаруженные нарушения и при необходимости может самостоятельно скорректировать автоматическую разметку.</a:t>
            </a:r>
          </a:p>
        </p:txBody>
      </p:sp>
      <p:sp>
        <p:nvSpPr>
          <p:cNvPr id="8" name="Скругленный прямоугольник 9">
            <a:extLst>
              <a:ext uri="{FF2B5EF4-FFF2-40B4-BE49-F238E27FC236}">
                <a16:creationId xmlns:a16="http://schemas.microsoft.com/office/drawing/2014/main" id="{7A53870E-B71A-44DA-A126-B3A0DD0C71B3}"/>
              </a:ext>
            </a:extLst>
          </p:cNvPr>
          <p:cNvSpPr/>
          <p:nvPr/>
        </p:nvSpPr>
        <p:spPr bwMode="auto">
          <a:xfrm>
            <a:off x="346075" y="324562"/>
            <a:ext cx="55748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</a:rPr>
              <a:t>ПОДРОБНОЕ ОПИСАНИЕ РЕШЕНИЯ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76370-4A05-4B22-8BFA-C04BFB0211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0"/>
          <a:stretch/>
        </p:blipFill>
        <p:spPr>
          <a:xfrm>
            <a:off x="6456363" y="888666"/>
            <a:ext cx="5735637" cy="5969334"/>
          </a:xfrm>
          <a:prstGeom prst="rect">
            <a:avLst/>
          </a:prstGeom>
        </p:spPr>
      </p:pic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425051" name="Скругленный прямоугольник 13"/>
          <p:cNvSpPr/>
          <p:nvPr/>
        </p:nvSpPr>
        <p:spPr bwMode="auto"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50671869" name="Скругленный прямоугольник 11"/>
          <p:cNvSpPr/>
          <p:nvPr/>
        </p:nvSpPr>
        <p:spPr bwMode="auto">
          <a:xfrm>
            <a:off x="6286500" y="2669767"/>
            <a:ext cx="5570538" cy="1829523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9896725" name="Скругленный прямоугольник 10"/>
          <p:cNvSpPr/>
          <p:nvPr/>
        </p:nvSpPr>
        <p:spPr bwMode="auto">
          <a:xfrm>
            <a:off x="6286500" y="917525"/>
            <a:ext cx="5570538" cy="151187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05219055" name="Скругленный прямоугольник 1"/>
          <p:cNvSpPr/>
          <p:nvPr/>
        </p:nvSpPr>
        <p:spPr bwMode="auto">
          <a:xfrm>
            <a:off x="346074" y="324562"/>
            <a:ext cx="56432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06338296" name="Номер слайда 8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7</a:t>
            </a:fld>
            <a:endParaRPr lang="ru-RU"/>
          </a:p>
        </p:txBody>
      </p:sp>
      <p:sp>
        <p:nvSpPr>
          <p:cNvPr id="1233537166" name="Текст 2"/>
          <p:cNvSpPr>
            <a:spLocks noGrp="1"/>
          </p:cNvSpPr>
          <p:nvPr>
            <p:ph type="body" sz="quarter" idx="21"/>
          </p:nvPr>
        </p:nvSpPr>
        <p:spPr bwMode="auto">
          <a:xfrm>
            <a:off x="6591637" y="1049727"/>
            <a:ext cx="4790314" cy="352168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Мировая статистика</a:t>
            </a:r>
          </a:p>
        </p:txBody>
      </p:sp>
      <p:sp>
        <p:nvSpPr>
          <p:cNvPr id="474682657" name="Текст 3"/>
          <p:cNvSpPr>
            <a:spLocks noGrp="1"/>
          </p:cNvSpPr>
          <p:nvPr>
            <p:ph type="body" sz="quarter" idx="18"/>
          </p:nvPr>
        </p:nvSpPr>
        <p:spPr bwMode="auto">
          <a:xfrm>
            <a:off x="6591637" y="1401895"/>
            <a:ext cx="4790314" cy="9605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Почти половина DXA-исследований содержит хотя бы одну ошибку: в ретроспективном анализе* 2375 сканов ошибки найдены в 43,1% исследований позвоночника и 45,4% — проксимального отдела бедра.</a:t>
            </a:r>
          </a:p>
        </p:txBody>
      </p:sp>
      <p:sp>
        <p:nvSpPr>
          <p:cNvPr id="802416208" name="Текст 4"/>
          <p:cNvSpPr>
            <a:spLocks noGrp="1"/>
          </p:cNvSpPr>
          <p:nvPr>
            <p:ph type="body" sz="quarter" idx="22"/>
          </p:nvPr>
        </p:nvSpPr>
        <p:spPr bwMode="auto">
          <a:xfrm>
            <a:off x="6591637" y="2781563"/>
            <a:ext cx="4790314" cy="697753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Экономическое решение</a:t>
            </a:r>
          </a:p>
        </p:txBody>
      </p:sp>
      <p:sp>
        <p:nvSpPr>
          <p:cNvPr id="309289454" name="Текст 5"/>
          <p:cNvSpPr>
            <a:spLocks noGrp="1"/>
          </p:cNvSpPr>
          <p:nvPr>
            <p:ph type="body" sz="quarter" idx="23"/>
          </p:nvPr>
        </p:nvSpPr>
        <p:spPr bwMode="auto">
          <a:xfrm>
            <a:off x="6591637" y="3070860"/>
            <a:ext cx="4790314" cy="13689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Автоматический контроль позволяет выявлять ошибку до ручного анализа врачом. Сценарная оценка для потока 10 тыс. DXA в год может предотвратить 375–750 повторных исследований или повторных обработок, </a:t>
            </a:r>
            <a:r>
              <a:rPr lang="ru-RU" dirty="0" err="1">
                <a:solidFill>
                  <a:schemeClr val="tx1"/>
                </a:solidFill>
              </a:rPr>
              <a:t>высвобождив</a:t>
            </a:r>
            <a:r>
              <a:rPr lang="ru-RU" dirty="0">
                <a:solidFill>
                  <a:schemeClr val="tx1"/>
                </a:solidFill>
              </a:rPr>
              <a:t> до 333 часов работы специалистов с экономическим эффектом экономии порядка </a:t>
            </a:r>
            <a:r>
              <a:rPr lang="ru-RU" b="1" dirty="0">
                <a:solidFill>
                  <a:schemeClr val="tx1"/>
                </a:solidFill>
              </a:rPr>
              <a:t>1–2,5 млн ₽ в год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tx1"/>
                </a:solidFill>
              </a:rPr>
              <a:t>на один диагностический центр.</a:t>
            </a:r>
          </a:p>
        </p:txBody>
      </p:sp>
      <p:sp>
        <p:nvSpPr>
          <p:cNvPr id="723791391" name="Текст 7"/>
          <p:cNvSpPr>
            <a:spLocks noGrp="1"/>
          </p:cNvSpPr>
          <p:nvPr>
            <p:ph type="body" sz="quarter" idx="25"/>
          </p:nvPr>
        </p:nvSpPr>
        <p:spPr bwMode="auto">
          <a:xfrm>
            <a:off x="6591637" y="4848161"/>
            <a:ext cx="5043950" cy="15081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Продукт ориентирован на медицинские организации, диагностические центры и отделения лучевой диагностики, выполняющие денситометрию. 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Сервис может стать дополнительным уровнем контроля качества, позволяя снижать количество исследований с ошибками позиционирования и разметки, стандартизировать работу специалистов и экономить время врача.</a:t>
            </a:r>
          </a:p>
        </p:txBody>
      </p:sp>
      <p:graphicFrame>
        <p:nvGraphicFramePr>
          <p:cNvPr id="668511626" name="Диаграм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8415577"/>
              </p:ext>
            </p:extLst>
          </p:nvPr>
        </p:nvGraphicFramePr>
        <p:xfrm>
          <a:off x="346075" y="1005410"/>
          <a:ext cx="5749925" cy="4686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814210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451706"/>
            <a:ext cx="5334935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МАРКЕТИНГОВАЯ ЧАСТЬ РЕШЕНИЯ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D0B3D-5A95-40C3-966C-57065370CC7F}"/>
              </a:ext>
            </a:extLst>
          </p:cNvPr>
          <p:cNvSpPr txBox="1"/>
          <p:nvPr/>
        </p:nvSpPr>
        <p:spPr>
          <a:xfrm>
            <a:off x="620261" y="6021276"/>
            <a:ext cx="53690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dirty="0">
                <a:solidFill>
                  <a:schemeClr val="bg2"/>
                </a:solidFill>
              </a:rPr>
              <a:t>*Источник: </a:t>
            </a:r>
            <a:r>
              <a:rPr lang="en-US" sz="700" dirty="0" err="1">
                <a:solidFill>
                  <a:schemeClr val="bg2"/>
                </a:solidFill>
              </a:rPr>
              <a:t>Bayır</a:t>
            </a:r>
            <a:r>
              <a:rPr lang="en-US" sz="700" dirty="0">
                <a:solidFill>
                  <a:schemeClr val="bg2"/>
                </a:solidFill>
              </a:rPr>
              <a:t> YB, </a:t>
            </a:r>
            <a:r>
              <a:rPr lang="en-US" sz="700" dirty="0" err="1">
                <a:solidFill>
                  <a:schemeClr val="bg2"/>
                </a:solidFill>
              </a:rPr>
              <a:t>Ünal</a:t>
            </a:r>
            <a:r>
              <a:rPr lang="en-US" sz="700" dirty="0">
                <a:solidFill>
                  <a:schemeClr val="bg2"/>
                </a:solidFill>
              </a:rPr>
              <a:t> ZK, </a:t>
            </a:r>
            <a:r>
              <a:rPr lang="en-US" sz="700" dirty="0" err="1">
                <a:solidFill>
                  <a:schemeClr val="bg2"/>
                </a:solidFill>
              </a:rPr>
              <a:t>Yılmaz</a:t>
            </a:r>
            <a:r>
              <a:rPr lang="en-US" sz="700" dirty="0">
                <a:solidFill>
                  <a:schemeClr val="bg2"/>
                </a:solidFill>
              </a:rPr>
              <a:t> ZA, </a:t>
            </a:r>
            <a:r>
              <a:rPr lang="en-US" sz="700" dirty="0" err="1">
                <a:solidFill>
                  <a:schemeClr val="bg2"/>
                </a:solidFill>
              </a:rPr>
              <a:t>Türemenoğulları</a:t>
            </a:r>
            <a:r>
              <a:rPr lang="en-US" sz="700" dirty="0">
                <a:solidFill>
                  <a:schemeClr val="bg2"/>
                </a:solidFill>
              </a:rPr>
              <a:t> B, Ata Ö, </a:t>
            </a:r>
            <a:r>
              <a:rPr lang="en-US" sz="700" dirty="0" err="1">
                <a:solidFill>
                  <a:schemeClr val="bg2"/>
                </a:solidFill>
              </a:rPr>
              <a:t>Adıgüzel</a:t>
            </a:r>
            <a:r>
              <a:rPr lang="en-US" sz="700" dirty="0">
                <a:solidFill>
                  <a:schemeClr val="bg2"/>
                </a:solidFill>
              </a:rPr>
              <a:t> E. How accurate are Dual-Energy X-Ray Absorptiometry measurements in clinical practice?: a retrospective single </a:t>
            </a:r>
            <a:r>
              <a:rPr lang="en-US" sz="700" dirty="0" err="1">
                <a:solidFill>
                  <a:schemeClr val="bg2"/>
                </a:solidFill>
              </a:rPr>
              <a:t>centre</a:t>
            </a:r>
            <a:r>
              <a:rPr lang="en-US" sz="700" dirty="0">
                <a:solidFill>
                  <a:schemeClr val="bg2"/>
                </a:solidFill>
              </a:rPr>
              <a:t> study. J Clin </a:t>
            </a:r>
            <a:r>
              <a:rPr lang="en-US" sz="700" dirty="0" err="1">
                <a:solidFill>
                  <a:schemeClr val="bg2"/>
                </a:solidFill>
              </a:rPr>
              <a:t>Densitom</a:t>
            </a:r>
            <a:r>
              <a:rPr lang="en-US" sz="700" dirty="0">
                <a:solidFill>
                  <a:schemeClr val="bg2"/>
                </a:solidFill>
              </a:rPr>
              <a:t>. 2025 Oct-Dec;28(4):101606. </a:t>
            </a:r>
            <a:r>
              <a:rPr lang="en-US" sz="700" dirty="0" err="1">
                <a:solidFill>
                  <a:schemeClr val="bg2"/>
                </a:solidFill>
              </a:rPr>
              <a:t>doi</a:t>
            </a:r>
            <a:r>
              <a:rPr lang="en-US" sz="700" dirty="0">
                <a:solidFill>
                  <a:schemeClr val="bg2"/>
                </a:solidFill>
              </a:rPr>
              <a:t>: 10.1016/j.jocd.2025.101606. </a:t>
            </a:r>
            <a:r>
              <a:rPr lang="en-US" sz="700" dirty="0" err="1">
                <a:solidFill>
                  <a:schemeClr val="bg2"/>
                </a:solidFill>
              </a:rPr>
              <a:t>Epub</a:t>
            </a:r>
            <a:r>
              <a:rPr lang="en-US" sz="700" dirty="0">
                <a:solidFill>
                  <a:schemeClr val="bg2"/>
                </a:solidFill>
              </a:rPr>
              <a:t> 2025 Jul 4. PMID: 40782707.</a:t>
            </a:r>
            <a:endParaRPr lang="ru-RU" sz="7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A50865-CCE9-40A4-9A97-9D46196073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2" t="13310" r="24987"/>
          <a:stretch/>
        </p:blipFill>
        <p:spPr bwMode="auto">
          <a:xfrm>
            <a:off x="6591300" y="912812"/>
            <a:ext cx="5600700" cy="5945187"/>
          </a:xfrm>
        </p:spPr>
      </p:pic>
      <p:sp>
        <p:nvSpPr>
          <p:cNvPr id="646767918" name="Скругленный прямоугольник 8"/>
          <p:cNvSpPr/>
          <p:nvPr/>
        </p:nvSpPr>
        <p:spPr bwMode="auto">
          <a:xfrm>
            <a:off x="666115" y="1318260"/>
            <a:ext cx="5354638" cy="5279389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endParaRPr lang="ru-RU" sz="1800" dirty="0">
              <a:solidFill>
                <a:schemeClr val="accent5"/>
              </a:solidFill>
            </a:endParaRPr>
          </a:p>
        </p:txBody>
      </p:sp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953573" y="1760219"/>
            <a:ext cx="4807840" cy="433705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«</a:t>
            </a:r>
            <a:r>
              <a:rPr lang="ru-RU" dirty="0" err="1">
                <a:solidFill>
                  <a:schemeClr val="tx1"/>
                </a:solidFill>
              </a:rPr>
              <a:t>Эвектио</a:t>
            </a:r>
            <a:r>
              <a:rPr lang="en-US" dirty="0">
                <a:solidFill>
                  <a:schemeClr val="tx1"/>
                </a:solidFill>
              </a:rPr>
              <a:t> DXA</a:t>
            </a:r>
            <a:r>
              <a:rPr lang="ru-RU" dirty="0">
                <a:solidFill>
                  <a:schemeClr val="tx1"/>
                </a:solidFill>
              </a:rPr>
              <a:t>» — B2B-продукт для медицинских организаций, выполняющих DXA-исследования. 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Модель монетизации — лицензирование на рабочее место, кабинет или медицинскую организацию с возможностью корпоративного подключения сети клиник.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Внедрение начинается с пилота на одном рабочем месте с последующим масштабированием и интеграцией с PACS/RIS. 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Сервис не требует замены существующего оборудования и может разворачиваться во внутреннем контуре клиники.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Дополнительные источники выручки — интеграция, техническая поддержка, корпоративные лицензии и аналитические модули контроля качества. </a:t>
            </a: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Масштабирование возможно за счёт подключения новых филиалов и расширения на дополнительные протоколы DXA.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9">
            <a:extLst>
              <a:ext uri="{FF2B5EF4-FFF2-40B4-BE49-F238E27FC236}">
                <a16:creationId xmlns:a16="http://schemas.microsoft.com/office/drawing/2014/main" id="{4147B9BA-7E51-45BE-B165-3DB79AD45E8F}"/>
              </a:ext>
            </a:extLst>
          </p:cNvPr>
          <p:cNvSpPr/>
          <p:nvPr/>
        </p:nvSpPr>
        <p:spPr bwMode="auto">
          <a:xfrm>
            <a:off x="346074" y="332182"/>
            <a:ext cx="624522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" name="Заголовок 13">
            <a:extLst>
              <a:ext uri="{FF2B5EF4-FFF2-40B4-BE49-F238E27FC236}">
                <a16:creationId xmlns:a16="http://schemas.microsoft.com/office/drawing/2014/main" id="{81E31B3D-6447-4261-9D4B-64BA8C35090C}"/>
              </a:ext>
            </a:extLst>
          </p:cNvPr>
          <p:cNvSpPr txBox="1">
            <a:spLocks/>
          </p:cNvSpPr>
          <p:nvPr/>
        </p:nvSpPr>
        <p:spPr bwMode="auto">
          <a:xfrm>
            <a:off x="376554" y="456851"/>
            <a:ext cx="6344286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>
              <a:defRPr/>
            </a:pPr>
            <a:r>
              <a:rPr lang="ru-RU" dirty="0"/>
              <a:t>БИЗНЕСОВАЯ СОСТАВЛЯЮЩАЯ РЕШЕНИЯ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604710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2092317"/>
            <a:ext cx="4929861" cy="390462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Сервис работает напрямую с DICOM-исследованиями: автоматически распознаёт область сканирования, выполняет разметку и проверяет критерии качества.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Результат представлен в понятном для врача виде: обнаруженные нарушения отмечаются непосредственно на изображении, а автоматическую разметку можно вручную скорректировать и подтвердить.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Результаты выдаются в CSV/XLSX и DICOM — SR, разметка (GSPS) и визуализация (</a:t>
            </a:r>
            <a:r>
              <a:rPr lang="ru-RU" sz="1400" dirty="0" err="1">
                <a:solidFill>
                  <a:schemeClr val="tx1"/>
                </a:solidFill>
              </a:rPr>
              <a:t>Secondary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Capture</a:t>
            </a:r>
            <a:r>
              <a:rPr lang="ru-RU" sz="1400" dirty="0">
                <a:solidFill>
                  <a:schemeClr val="tx1"/>
                </a:solidFill>
              </a:rPr>
              <a:t>) — для загрузки в PACS.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897380"/>
            <a:ext cx="4957144" cy="4303395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DICOM Engine </a:t>
            </a:r>
            <a:r>
              <a:rPr lang="ru-RU" sz="1400" dirty="0">
                <a:solidFill>
                  <a:schemeClr val="tx1"/>
                </a:solidFill>
              </a:rPr>
              <a:t>— чтение изображения, метаданных и геометрии исследования;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CV Engine </a:t>
            </a:r>
            <a:r>
              <a:rPr lang="ru-RU" sz="1400" dirty="0">
                <a:solidFill>
                  <a:schemeClr val="tx1"/>
                </a:solidFill>
              </a:rPr>
              <a:t>— распознавание области и анатомических ориентиров, эвристическая автоматическая разметка;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ML Quality Engine </a:t>
            </a:r>
            <a:r>
              <a:rPr lang="ru-RU" sz="1400" dirty="0">
                <a:solidFill>
                  <a:schemeClr val="tx1"/>
                </a:solidFill>
              </a:rPr>
              <a:t>— физические признаки по критериям ТЗ и 7 классификаторов: класс качества и типы нарушений;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 err="1">
                <a:solidFill>
                  <a:schemeClr val="tx1"/>
                </a:solidFill>
              </a:rPr>
              <a:t>Visualization</a:t>
            </a:r>
            <a:r>
              <a:rPr lang="ru-RU" sz="1400" b="1" dirty="0">
                <a:solidFill>
                  <a:schemeClr val="tx1"/>
                </a:solidFill>
              </a:rPr>
              <a:t> Layer </a:t>
            </a:r>
            <a:r>
              <a:rPr lang="ru-RU" sz="1400" dirty="0">
                <a:solidFill>
                  <a:schemeClr val="tx1"/>
                </a:solidFill>
              </a:rPr>
              <a:t>— отображение разметки, измерений и зон ошибки;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>
                <a:solidFill>
                  <a:schemeClr val="tx1"/>
                </a:solidFill>
              </a:rPr>
              <a:t>Human-</a:t>
            </a:r>
            <a:r>
              <a:rPr lang="ru-RU" sz="1400" b="1" dirty="0" err="1">
                <a:solidFill>
                  <a:schemeClr val="tx1"/>
                </a:solidFill>
              </a:rPr>
              <a:t>in</a:t>
            </a:r>
            <a:r>
              <a:rPr lang="ru-RU" sz="1400" b="1" dirty="0">
                <a:solidFill>
                  <a:schemeClr val="tx1"/>
                </a:solidFill>
              </a:rPr>
              <a:t>-</a:t>
            </a:r>
            <a:r>
              <a:rPr lang="ru-RU" sz="1400" b="1" dirty="0" err="1">
                <a:solidFill>
                  <a:schemeClr val="tx1"/>
                </a:solidFill>
              </a:rPr>
              <a:t>the-loop</a:t>
            </a:r>
            <a:r>
              <a:rPr lang="ru-RU" sz="1400" b="1" dirty="0">
                <a:solidFill>
                  <a:schemeClr val="tx1"/>
                </a:solidFill>
              </a:rPr>
              <a:t> Editor </a:t>
            </a:r>
            <a:r>
              <a:rPr lang="ru-RU" sz="1400" dirty="0">
                <a:solidFill>
                  <a:schemeClr val="tx1"/>
                </a:solidFill>
              </a:rPr>
              <a:t>— ручная корректировка специалистом;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buFontTx/>
              <a:buChar char="-"/>
              <a:defRPr/>
            </a:pPr>
            <a:r>
              <a:rPr lang="ru-RU" sz="1400" b="1" dirty="0" err="1">
                <a:solidFill>
                  <a:schemeClr val="tx1"/>
                </a:solidFill>
              </a:rPr>
              <a:t>Integration</a:t>
            </a:r>
            <a:r>
              <a:rPr lang="ru-RU" sz="1400" b="1" dirty="0">
                <a:solidFill>
                  <a:schemeClr val="tx1"/>
                </a:solidFill>
              </a:rPr>
              <a:t> Layer </a:t>
            </a:r>
            <a:r>
              <a:rPr lang="ru-RU" sz="1400" dirty="0">
                <a:solidFill>
                  <a:schemeClr val="tx1"/>
                </a:solidFill>
              </a:rPr>
              <a:t>— структурированный результат в DICOM для PACS.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5867363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ТЕХНИЧЕСКАЯ ПРОРАБОТКА РЕШЕНИЯ</a:t>
            </a:r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37313" y="1476583"/>
            <a:ext cx="5214724" cy="61573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1600" b="1" dirty="0">
                <a:solidFill>
                  <a:schemeClr val="accent5"/>
                </a:solidFill>
              </a:rPr>
              <a:t>Модульная архитектура:</a:t>
            </a:r>
          </a:p>
          <a:p>
            <a:pPr>
              <a:lnSpc>
                <a:spcPct val="100000"/>
              </a:lnSpc>
              <a:defRPr/>
            </a:pPr>
            <a:endParaRPr lang="ru-RU" sz="1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733834" cy="376138"/>
          </a:xfrm>
        </p:spPr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53" name="Номер слайда 12">
            <a:extLst>
              <a:ext uri="{FF2B5EF4-FFF2-40B4-BE49-F238E27FC236}">
                <a16:creationId xmlns:a16="http://schemas.microsoft.com/office/drawing/2014/main" id="{A8A64C13-0D66-48C9-BEA5-56FD0564014C}"/>
              </a:ext>
            </a:extLst>
          </p:cNvPr>
          <p:cNvSpPr txBox="1">
            <a:spLocks/>
          </p:cNvSpPr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220" rtl="0">
              <a:defRPr sz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2DCC5B9-D646-4B76-891F-6FF4E74E9CB4}" type="slidenum">
              <a:rPr lang="ru-RU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Текст 1">
            <a:extLst>
              <a:ext uri="{FF2B5EF4-FFF2-40B4-BE49-F238E27FC236}">
                <a16:creationId xmlns:a16="http://schemas.microsoft.com/office/drawing/2014/main" id="{66BF9014-DA14-402F-9B29-F8E47EC6A4C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auto">
          <a:xfrm>
            <a:off x="346075" y="1705625"/>
            <a:ext cx="2526079" cy="122913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algn="ctr">
              <a:defRPr/>
            </a:pPr>
            <a:r>
              <a:rPr lang="ru-RU" sz="1800" b="1" dirty="0"/>
              <a:t>Загрузка снимка в формате </a:t>
            </a:r>
            <a:r>
              <a:rPr lang="en-US" sz="1800" b="1" dirty="0"/>
              <a:t>DICOM</a:t>
            </a:r>
            <a:r>
              <a:rPr lang="ru-RU" sz="1800" b="1" dirty="0"/>
              <a:t> и </a:t>
            </a:r>
            <a:r>
              <a:rPr lang="en-US" sz="1800" b="1" dirty="0"/>
              <a:t>ZIP</a:t>
            </a:r>
            <a:endParaRPr lang="ru-RU" sz="1800" b="1" dirty="0"/>
          </a:p>
        </p:txBody>
      </p:sp>
      <p:cxnSp>
        <p:nvCxnSpPr>
          <p:cNvPr id="60" name="Прямая соединительная линия 33">
            <a:extLst>
              <a:ext uri="{FF2B5EF4-FFF2-40B4-BE49-F238E27FC236}">
                <a16:creationId xmlns:a16="http://schemas.microsoft.com/office/drawing/2014/main" id="{C6062954-638C-4EFD-AE1C-C74258BABCAB}"/>
              </a:ext>
            </a:extLst>
          </p:cNvPr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34">
            <a:extLst>
              <a:ext uri="{FF2B5EF4-FFF2-40B4-BE49-F238E27FC236}">
                <a16:creationId xmlns:a16="http://schemas.microsoft.com/office/drawing/2014/main" id="{88595735-B476-467A-A601-D85B48F51A4C}"/>
              </a:ext>
            </a:extLst>
          </p:cNvPr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35">
            <a:extLst>
              <a:ext uri="{FF2B5EF4-FFF2-40B4-BE49-F238E27FC236}">
                <a16:creationId xmlns:a16="http://schemas.microsoft.com/office/drawing/2014/main" id="{6AB01AB7-23E1-4B87-8289-8019E5A878D7}"/>
              </a:ext>
            </a:extLst>
          </p:cNvPr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36">
            <a:extLst>
              <a:ext uri="{FF2B5EF4-FFF2-40B4-BE49-F238E27FC236}">
                <a16:creationId xmlns:a16="http://schemas.microsoft.com/office/drawing/2014/main" id="{6FE03846-0989-4E93-A4CD-C8A894488263}"/>
              </a:ext>
            </a:extLst>
          </p:cNvPr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37">
            <a:extLst>
              <a:ext uri="{FF2B5EF4-FFF2-40B4-BE49-F238E27FC236}">
                <a16:creationId xmlns:a16="http://schemas.microsoft.com/office/drawing/2014/main" id="{0D979BF8-B952-4160-99CC-D242C147BB3D}"/>
              </a:ext>
            </a:extLst>
          </p:cNvPr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38">
            <a:extLst>
              <a:ext uri="{FF2B5EF4-FFF2-40B4-BE49-F238E27FC236}">
                <a16:creationId xmlns:a16="http://schemas.microsoft.com/office/drawing/2014/main" id="{EDB6534B-A7AB-4C00-A2FA-C36124111CFB}"/>
              </a:ext>
            </a:extLst>
          </p:cNvPr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39">
            <a:extLst>
              <a:ext uri="{FF2B5EF4-FFF2-40B4-BE49-F238E27FC236}">
                <a16:creationId xmlns:a16="http://schemas.microsoft.com/office/drawing/2014/main" id="{A18FAF73-65A0-45A1-8C3E-C0A8D35E4CC7}"/>
              </a:ext>
            </a:extLst>
          </p:cNvPr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40">
            <a:extLst>
              <a:ext uri="{FF2B5EF4-FFF2-40B4-BE49-F238E27FC236}">
                <a16:creationId xmlns:a16="http://schemas.microsoft.com/office/drawing/2014/main" id="{FC718ED6-C11B-4612-9F18-AD4CD129855B}"/>
              </a:ext>
            </a:extLst>
          </p:cNvPr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41">
            <a:extLst>
              <a:ext uri="{FF2B5EF4-FFF2-40B4-BE49-F238E27FC236}">
                <a16:creationId xmlns:a16="http://schemas.microsoft.com/office/drawing/2014/main" id="{4A4E5705-7945-4BE4-8B7B-BF6D183E3002}"/>
              </a:ext>
            </a:extLst>
          </p:cNvPr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Скругленный прямоугольник 42">
            <a:extLst>
              <a:ext uri="{FF2B5EF4-FFF2-40B4-BE49-F238E27FC236}">
                <a16:creationId xmlns:a16="http://schemas.microsoft.com/office/drawing/2014/main" id="{300BFBFB-08BC-4555-87C0-9B0A5B86D9AB}"/>
              </a:ext>
            </a:extLst>
          </p:cNvPr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93" name="Скругленный прямоугольник 43">
            <a:extLst>
              <a:ext uri="{FF2B5EF4-FFF2-40B4-BE49-F238E27FC236}">
                <a16:creationId xmlns:a16="http://schemas.microsoft.com/office/drawing/2014/main" id="{7310B4A5-B3C8-4755-9E99-C764A6F5A913}"/>
              </a:ext>
            </a:extLst>
          </p:cNvPr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94" name="Скругленный прямоугольник 44">
            <a:extLst>
              <a:ext uri="{FF2B5EF4-FFF2-40B4-BE49-F238E27FC236}">
                <a16:creationId xmlns:a16="http://schemas.microsoft.com/office/drawing/2014/main" id="{75B2D2F9-111E-42D6-933F-928F5459898F}"/>
              </a:ext>
            </a:extLst>
          </p:cNvPr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95" name="Скругленный прямоугольник 52">
            <a:extLst>
              <a:ext uri="{FF2B5EF4-FFF2-40B4-BE49-F238E27FC236}">
                <a16:creationId xmlns:a16="http://schemas.microsoft.com/office/drawing/2014/main" id="{83375D22-2797-4F86-B894-CBFBC676E86D}"/>
              </a:ext>
            </a:extLst>
          </p:cNvPr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96" name="Скругленный прямоугольник 53">
            <a:extLst>
              <a:ext uri="{FF2B5EF4-FFF2-40B4-BE49-F238E27FC236}">
                <a16:creationId xmlns:a16="http://schemas.microsoft.com/office/drawing/2014/main" id="{ECB71278-D1AE-43A5-8BB0-CE6E8F92EE79}"/>
              </a:ext>
            </a:extLst>
          </p:cNvPr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97" name="Скругленный прямоугольник 13">
            <a:extLst>
              <a:ext uri="{FF2B5EF4-FFF2-40B4-BE49-F238E27FC236}">
                <a16:creationId xmlns:a16="http://schemas.microsoft.com/office/drawing/2014/main" id="{3F7F2DC1-4C3D-4547-BF7D-DD7EE4C14FF4}"/>
              </a:ext>
            </a:extLst>
          </p:cNvPr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09" name="Скругленный прямоугольник 15">
            <a:extLst>
              <a:ext uri="{FF2B5EF4-FFF2-40B4-BE49-F238E27FC236}">
                <a16:creationId xmlns:a16="http://schemas.microsoft.com/office/drawing/2014/main" id="{C25B5D10-1512-4416-8F10-3F858F339244}"/>
              </a:ext>
            </a:extLst>
          </p:cNvPr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0" name="Скругленный прямоугольник 16">
            <a:extLst>
              <a:ext uri="{FF2B5EF4-FFF2-40B4-BE49-F238E27FC236}">
                <a16:creationId xmlns:a16="http://schemas.microsoft.com/office/drawing/2014/main" id="{CBB286FD-8164-4650-A28C-7AC93B1F13A4}"/>
              </a:ext>
            </a:extLst>
          </p:cNvPr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1" name="Скругленный прямоугольник 17">
            <a:extLst>
              <a:ext uri="{FF2B5EF4-FFF2-40B4-BE49-F238E27FC236}">
                <a16:creationId xmlns:a16="http://schemas.microsoft.com/office/drawing/2014/main" id="{987642A9-879F-4C8C-959C-1D51B5DF6AE3}"/>
              </a:ext>
            </a:extLst>
          </p:cNvPr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2" name="Скругленный прямоугольник 18">
            <a:extLst>
              <a:ext uri="{FF2B5EF4-FFF2-40B4-BE49-F238E27FC236}">
                <a16:creationId xmlns:a16="http://schemas.microsoft.com/office/drawing/2014/main" id="{310E95DB-8647-4DE0-BFD3-CFEA3CC3E8E6}"/>
              </a:ext>
            </a:extLst>
          </p:cNvPr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13" name="Скругленный прямоугольник 9">
            <a:extLst>
              <a:ext uri="{FF2B5EF4-FFF2-40B4-BE49-F238E27FC236}">
                <a16:creationId xmlns:a16="http://schemas.microsoft.com/office/drawing/2014/main" id="{2F4DA60B-955D-4D16-88D5-26C2544CD267}"/>
              </a:ext>
            </a:extLst>
          </p:cNvPr>
          <p:cNvSpPr/>
          <p:nvPr/>
        </p:nvSpPr>
        <p:spPr bwMode="auto">
          <a:xfrm>
            <a:off x="346075" y="324562"/>
            <a:ext cx="609768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4" name="Заголовок 13">
            <a:extLst>
              <a:ext uri="{FF2B5EF4-FFF2-40B4-BE49-F238E27FC236}">
                <a16:creationId xmlns:a16="http://schemas.microsoft.com/office/drawing/2014/main" id="{DA326B42-EF31-487E-A4CF-F74217A1EAA8}"/>
              </a:ext>
            </a:extLst>
          </p:cNvPr>
          <p:cNvSpPr txBox="1">
            <a:spLocks/>
          </p:cNvSpPr>
          <p:nvPr/>
        </p:nvSpPr>
        <p:spPr bwMode="auto">
          <a:xfrm>
            <a:off x="525817" y="456851"/>
            <a:ext cx="5867363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>
              <a:defRPr/>
            </a:pPr>
            <a:r>
              <a:rPr lang="ru-RU" dirty="0"/>
              <a:t>ТЕХНИЧЕСКАЯ ПРОРАБОТКА РЕШЕНИЯ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1D941E-F66E-4F44-A3CE-F3D040A91BB8}"/>
              </a:ext>
            </a:extLst>
          </p:cNvPr>
          <p:cNvSpPr txBox="1"/>
          <p:nvPr/>
        </p:nvSpPr>
        <p:spPr>
          <a:xfrm>
            <a:off x="2745797" y="5040898"/>
            <a:ext cx="2399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чтение и калибровка пикселя 1,05 × 0,60 мм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1420201-FE3F-4608-9902-E498D18543AD}"/>
              </a:ext>
            </a:extLst>
          </p:cNvPr>
          <p:cNvSpPr txBox="1"/>
          <p:nvPr/>
        </p:nvSpPr>
        <p:spPr>
          <a:xfrm>
            <a:off x="4862278" y="1976641"/>
            <a:ext cx="24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Разметка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AD14ED-B11D-4956-8CC4-D4645BDC108E}"/>
              </a:ext>
            </a:extLst>
          </p:cNvPr>
          <p:cNvSpPr txBox="1"/>
          <p:nvPr/>
        </p:nvSpPr>
        <p:spPr>
          <a:xfrm>
            <a:off x="7238082" y="5256183"/>
            <a:ext cx="2313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Выделение зоны проблемы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4009993-7454-4B4E-A845-64584A191ACD}"/>
              </a:ext>
            </a:extLst>
          </p:cNvPr>
          <p:cNvSpPr txBox="1"/>
          <p:nvPr/>
        </p:nvSpPr>
        <p:spPr bwMode="auto">
          <a:xfrm>
            <a:off x="9174831" y="1730521"/>
            <a:ext cx="2671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Описание проблемы и экспорт отчёта</a:t>
            </a:r>
          </a:p>
        </p:txBody>
      </p:sp>
    </p:spTree>
    <p:extLst>
      <p:ext uri="{BB962C8B-B14F-4D97-AF65-F5344CB8AC3E}">
        <p14:creationId xmlns:p14="http://schemas.microsoft.com/office/powerpoint/2010/main" val="3128550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93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01" name="Карточка 5001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2" name="Показатель 5002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100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обезличенных исследований</a:t>
            </a:r>
            <a:endParaRPr lang="ru-RU" sz="1100" dirty="0"/>
          </a:p>
        </p:txBody>
      </p:sp>
      <p:sp>
        <p:nvSpPr>
          <p:cNvPr id="5003" name="Карточка 5003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4" name="Показатель 5004"/>
          <p:cNvSpPr txBox="1"/>
          <p:nvPr/>
        </p:nvSpPr>
        <p:spPr>
          <a:xfrm>
            <a:off x="3434478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499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снимков: 172 позвоночника, 324 бедра; 3 тестовых</a:t>
            </a:r>
            <a:endParaRPr lang="ru-RU" sz="1100" dirty="0"/>
          </a:p>
        </p:txBody>
      </p:sp>
      <p:sp>
        <p:nvSpPr>
          <p:cNvPr id="5005" name="Карточка 5005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6" name="Показатель 5006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5 фолдов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 err="1">
                <a:solidFill>
                  <a:schemeClr val="tx1"/>
                </a:solidFill>
              </a:rPr>
              <a:t>StratifiedGroupKFold</a:t>
            </a:r>
            <a:r>
              <a:rPr lang="ru-RU" sz="1100" dirty="0">
                <a:solidFill>
                  <a:schemeClr val="tx1"/>
                </a:solidFill>
              </a:rPr>
              <a:t> по исследованию</a:t>
            </a:r>
            <a:endParaRPr lang="ru-RU" sz="1100" dirty="0"/>
          </a:p>
        </p:txBody>
      </p:sp>
      <p:sp>
        <p:nvSpPr>
          <p:cNvPr id="5007" name="Карточка 5007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8" name="Показатель 5008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2400" b="1" dirty="0">
                <a:solidFill>
                  <a:schemeClr val="accent1"/>
                </a:solidFill>
              </a:rPr>
              <a:t>1,05 × 0,60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мм — калибровка пикселя аппарата</a:t>
            </a:r>
            <a:endParaRPr lang="ru-RU" sz="1100" dirty="0"/>
          </a:p>
        </p:txBody>
      </p:sp>
      <p:sp>
        <p:nvSpPr>
          <p:cNvPr id="5009" name="Карточка 5009"/>
          <p:cNvSpPr/>
          <p:nvPr/>
        </p:nvSpPr>
        <p:spPr>
          <a:xfrm>
            <a:off x="346075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10" name="Заголовок карточки 5010"/>
          <p:cNvSpPr txBox="1"/>
          <p:nvPr/>
        </p:nvSpPr>
        <p:spPr>
          <a:xfrm>
            <a:off x="606075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Данные и разбиение выборки</a:t>
            </a:r>
            <a:endParaRPr lang="ru-RU" sz="1500" dirty="0"/>
          </a:p>
        </p:txBody>
      </p:sp>
      <p:sp>
        <p:nvSpPr>
          <p:cNvPr id="5011" name="Текст 5011"/>
          <p:cNvSpPr txBox="1"/>
          <p:nvPr/>
        </p:nvSpPr>
        <p:spPr>
          <a:xfrm>
            <a:off x="606075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Экспертная разметка </a:t>
            </a:r>
            <a:r>
              <a:rPr lang="ru-RU" sz="1200" dirty="0">
                <a:solidFill>
                  <a:schemeClr val="tx1"/>
                </a:solidFill>
              </a:rPr>
              <a:t>дана на уровне исследования и переносится на все снимки соответствующей области и стороны.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Дисбаланс: </a:t>
            </a:r>
            <a:r>
              <a:rPr lang="ru-RU" sz="1200" dirty="0">
                <a:solidFill>
                  <a:schemeClr val="tx1"/>
                </a:solidFill>
              </a:rPr>
              <a:t>у редких нарушений всего 10–19 положительных снимков — веса классов и выравнивание вклада исследований.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Разбиение: </a:t>
            </a:r>
            <a:r>
              <a:rPr lang="ru-RU" sz="1200" dirty="0">
                <a:solidFill>
                  <a:schemeClr val="tx1"/>
                </a:solidFill>
              </a:rPr>
              <a:t>5-fold StratifiedGroupKFold по исследованию — снимки одного пациента не попадают одновременно в обучение и проверку.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Пороги голов </a:t>
            </a:r>
            <a:r>
              <a:rPr lang="ru-RU" sz="1200" dirty="0">
                <a:solidFill>
                  <a:schemeClr val="tx1"/>
                </a:solidFill>
              </a:rPr>
              <a:t>подбираются только на out-of-fold предсказаниях; seed 42 — результат воспроизводим.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95% ДИ </a:t>
            </a:r>
            <a:r>
              <a:rPr lang="ru-RU" sz="1200" dirty="0">
                <a:solidFill>
                  <a:schemeClr val="tx1"/>
                </a:solidFill>
              </a:rPr>
              <a:t>— кластерный бутстреп по исследованиям.</a:t>
            </a:r>
            <a:endParaRPr lang="ru-RU" sz="1200" dirty="0"/>
          </a:p>
        </p:txBody>
      </p:sp>
      <p:sp>
        <p:nvSpPr>
          <p:cNvPr id="5012" name="Карточка 5012"/>
          <p:cNvSpPr/>
          <p:nvPr/>
        </p:nvSpPr>
        <p:spPr>
          <a:xfrm>
            <a:off x="6122881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13" name="Заголовок карточки 5013"/>
          <p:cNvSpPr txBox="1"/>
          <p:nvPr/>
        </p:nvSpPr>
        <p:spPr>
          <a:xfrm>
            <a:off x="6382881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Предобработка</a:t>
            </a:r>
            <a:endParaRPr lang="ru-RU" sz="1500" dirty="0"/>
          </a:p>
        </p:txBody>
      </p:sp>
      <p:sp>
        <p:nvSpPr>
          <p:cNvPr id="5014" name="Текст 5014"/>
          <p:cNvSpPr txBox="1"/>
          <p:nvPr/>
        </p:nvSpPr>
        <p:spPr>
          <a:xfrm>
            <a:off x="6382881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Декодирование DICOM: </a:t>
            </a:r>
            <a:r>
              <a:rPr lang="ru-RU" sz="1200" dirty="0">
                <a:solidFill>
                  <a:schemeClr val="tx1"/>
                </a:solidFill>
              </a:rPr>
              <a:t>Rescale Slope/Intercept, инверсия MONOCHROME1, цветные снимки → яркость, сжатие JPEG, JPEG 2000, RLE.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Калибровка пикселя: </a:t>
            </a:r>
            <a:r>
              <a:rPr lang="ru-RU" sz="1200" dirty="0">
                <a:solidFill>
                  <a:schemeClr val="tx1"/>
                </a:solidFill>
              </a:rPr>
              <a:t>берётся из PixelSpacing в DICOM; в выгрузке организатора его нет — используется паспорт аппарата 1,05 × 0,60 мм. Все критерии считаются в миллиметрах и градусах: в пикселях угол ошибся бы в 1,75 раза.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Нормализация </a:t>
            </a:r>
            <a:r>
              <a:rPr lang="ru-RU" sz="1200" dirty="0">
                <a:solidFill>
                  <a:schemeClr val="tx1"/>
                </a:solidFill>
              </a:rPr>
              <a:t>яркости по 1–99 перцентилям.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Область и сторона бедра </a:t>
            </a:r>
            <a:r>
              <a:rPr lang="ru-RU" sz="1200" dirty="0">
                <a:solidFill>
                  <a:schemeClr val="tx1"/>
                </a:solidFill>
              </a:rPr>
              <a:t>— по изображению, проекция — по тегам DICOM.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Кадры одного исследования </a:t>
            </a:r>
            <a:r>
              <a:rPr lang="ru-RU" sz="1200" dirty="0">
                <a:solidFill>
                  <a:schemeClr val="tx1"/>
                </a:solidFill>
              </a:rPr>
              <a:t>и области анализируются как серия.</a:t>
            </a:r>
            <a:endParaRPr lang="ru-RU" sz="1200" dirty="0"/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368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ДАННЫЕ И ВАЛИДАЦИЯ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0157BA-7BF8-463E-920A-46DA72F7083F}"/>
              </a:ext>
            </a:extLst>
          </p:cNvPr>
          <p:cNvSpPr txBox="1"/>
          <p:nvPr/>
        </p:nvSpPr>
        <p:spPr>
          <a:xfrm>
            <a:off x="346075" y="6254920"/>
            <a:ext cx="114860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</a:rPr>
              <a:t>5-fold </a:t>
            </a:r>
            <a:r>
              <a:rPr lang="ru-RU" sz="1100" dirty="0" err="1">
                <a:solidFill>
                  <a:schemeClr val="bg1"/>
                </a:solidFill>
              </a:rPr>
              <a:t>StratifiedGroupKFold</a:t>
            </a:r>
            <a:r>
              <a:rPr lang="ru-RU" sz="1100" dirty="0">
                <a:solidFill>
                  <a:schemeClr val="bg1"/>
                </a:solidFill>
              </a:rPr>
              <a:t> — стратифицированная K-кратная кросс-валидация с учётом групп</a:t>
            </a: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5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27" name="Карточка 5027"/>
          <p:cNvSpPr/>
          <p:nvPr/>
        </p:nvSpPr>
        <p:spPr>
          <a:xfrm>
            <a:off x="346075" y="1211284"/>
            <a:ext cx="8446412" cy="49894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28" name="Заголовок карточки 5028"/>
          <p:cNvSpPr txBox="1"/>
          <p:nvPr/>
        </p:nvSpPr>
        <p:spPr>
          <a:xfrm>
            <a:off x="576075" y="1411284"/>
            <a:ext cx="7986412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Метрики по областям и типам нарушений</a:t>
            </a:r>
            <a:endParaRPr lang="ru-RU" sz="1500" dirty="0"/>
          </a:p>
        </p:txBody>
      </p:sp>
      <p:graphicFrame>
        <p:nvGraphicFramePr>
          <p:cNvPr id="5025" name="Таблица 50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04577"/>
              </p:ext>
            </p:extLst>
          </p:nvPr>
        </p:nvGraphicFramePr>
        <p:xfrm>
          <a:off x="576075" y="2106709"/>
          <a:ext cx="7986412" cy="3520000"/>
        </p:xfrm>
        <a:graphic>
          <a:graphicData uri="http://schemas.openxmlformats.org/drawingml/2006/table">
            <a:tbl>
              <a:tblPr firstRow="1" bandRow="1"/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32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Голова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Снимков / полож.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Чувств.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Специф.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F1 [95% ДИ]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ROC-AUC [95% ДИ]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Позвоночник — качество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172 / 61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0,63 [0,45–0,77]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0,74 [0,62–0,85]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Позвоночник — укладка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172 / 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0,62 [0,15–1,00]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0,85 [0,70–1,00]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Позвоночник — ось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172 / 17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0,41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0,35 [0,07–0,60]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0,65 [0,40–0,86]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Посторонние предметы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172 / 35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0,46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0,97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0,58 [0,13–0,82]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0,79 [0,61–0,91]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Бедро — качество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324 / 90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0,70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0,66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0,54 [0,38–0,69]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0,67 [0,52–0,80]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Бедро — укладка/ротация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324 / 71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0,84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0,50 [0,26–0,68]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0,64 [0,44–0,79]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Бедро — область интереса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324 / 19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0,42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1,00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0,57 [0,00–0,94]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0,93 [0,80–0,99]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29" name="Карточка 5029"/>
          <p:cNvSpPr/>
          <p:nvPr/>
        </p:nvSpPr>
        <p:spPr>
          <a:xfrm>
            <a:off x="9021087" y="1211284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30" name="Показатель 5030"/>
          <p:cNvSpPr txBox="1"/>
          <p:nvPr/>
        </p:nvSpPr>
        <p:spPr>
          <a:xfrm>
            <a:off x="9221087" y="1361284"/>
            <a:ext cx="2250000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200" b="1" dirty="0">
                <a:solidFill>
                  <a:schemeClr val="accent1"/>
                </a:solidFill>
              </a:rPr>
              <a:t>0,77</a:t>
            </a:r>
            <a:endParaRPr lang="ru-RU" sz="32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средний ROC-AUC пяти типов нарушений</a:t>
            </a:r>
            <a:endParaRPr lang="ru-RU" sz="1100" dirty="0"/>
          </a:p>
        </p:txBody>
      </p:sp>
      <p:sp>
        <p:nvSpPr>
          <p:cNvPr id="5031" name="Карточка 5031"/>
          <p:cNvSpPr/>
          <p:nvPr/>
        </p:nvSpPr>
        <p:spPr>
          <a:xfrm>
            <a:off x="9021087" y="2950648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32" name="Показатель 5032"/>
          <p:cNvSpPr txBox="1"/>
          <p:nvPr/>
        </p:nvSpPr>
        <p:spPr>
          <a:xfrm>
            <a:off x="9221087" y="3100648"/>
            <a:ext cx="2250000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200" b="1" dirty="0">
                <a:solidFill>
                  <a:schemeClr val="accent1"/>
                </a:solidFill>
              </a:rPr>
              <a:t>0,53</a:t>
            </a:r>
            <a:endParaRPr lang="ru-RU" sz="32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macro-F1 пяти типов нарушений</a:t>
            </a:r>
            <a:endParaRPr lang="ru-RU" sz="1100" dirty="0"/>
          </a:p>
        </p:txBody>
      </p:sp>
      <p:sp>
        <p:nvSpPr>
          <p:cNvPr id="5033" name="Карточка 5033"/>
          <p:cNvSpPr/>
          <p:nvPr/>
        </p:nvSpPr>
        <p:spPr>
          <a:xfrm>
            <a:off x="9021087" y="4690012"/>
            <a:ext cx="2650000" cy="151076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34" name="Показатель 5034"/>
          <p:cNvSpPr txBox="1"/>
          <p:nvPr/>
        </p:nvSpPr>
        <p:spPr>
          <a:xfrm>
            <a:off x="9221087" y="4840012"/>
            <a:ext cx="2250000" cy="12607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200" b="1" dirty="0">
                <a:solidFill>
                  <a:schemeClr val="accent1"/>
                </a:solidFill>
              </a:rPr>
              <a:t>0,93</a:t>
            </a:r>
            <a:endParaRPr lang="ru-RU" sz="32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ROC-AUC — некорректная область интереса бедра</a:t>
            </a:r>
            <a:endParaRPr lang="ru-RU" sz="1100" dirty="0"/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331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МЕТРИКИ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467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45" name="Карточка 5045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46" name="Показатель 5046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0,05 с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ядро модели на снимок (медиана, Docker)</a:t>
            </a:r>
            <a:endParaRPr lang="ru-RU" sz="1100" dirty="0"/>
          </a:p>
        </p:txBody>
      </p:sp>
      <p:sp>
        <p:nvSpPr>
          <p:cNvPr id="5047" name="Карточка 5047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48" name="Показатель 5048"/>
          <p:cNvSpPr txBox="1"/>
          <p:nvPr/>
        </p:nvSpPr>
        <p:spPr>
          <a:xfrm>
            <a:off x="3434478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0,59 с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полный цикл на снимок с PNG, SR и разметкой</a:t>
            </a:r>
            <a:endParaRPr lang="ru-RU" sz="1100" dirty="0"/>
          </a:p>
        </p:txBody>
      </p:sp>
      <p:sp>
        <p:nvSpPr>
          <p:cNvPr id="5049" name="Карточка 5049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50" name="Показатель 5050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1–2 с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на исследование из 1–3 снимков при лимите ТЗ 180 с</a:t>
            </a:r>
            <a:endParaRPr lang="ru-RU" sz="1100" dirty="0"/>
          </a:p>
        </p:txBody>
      </p:sp>
      <p:sp>
        <p:nvSpPr>
          <p:cNvPr id="5051" name="Карточка 5051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52" name="Показатель 5052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3000" b="1" dirty="0">
                <a:solidFill>
                  <a:schemeClr val="accent1"/>
                </a:solidFill>
              </a:rPr>
              <a:t>268 с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пакет из 510 снимков на 2 vCPU</a:t>
            </a:r>
            <a:endParaRPr lang="ru-RU" sz="1100" dirty="0"/>
          </a:p>
        </p:txBody>
      </p:sp>
      <p:sp>
        <p:nvSpPr>
          <p:cNvPr id="5053" name="Карточка 5053"/>
          <p:cNvSpPr/>
          <p:nvPr/>
        </p:nvSpPr>
        <p:spPr>
          <a:xfrm>
            <a:off x="346075" y="2589884"/>
            <a:ext cx="5100000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54" name="Заголовок карточки 5054"/>
          <p:cNvSpPr txBox="1"/>
          <p:nvPr/>
        </p:nvSpPr>
        <p:spPr>
          <a:xfrm>
            <a:off x="576075" y="2789884"/>
            <a:ext cx="4640000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Системные требования</a:t>
            </a:r>
            <a:endParaRPr lang="ru-RU" sz="1500" dirty="0"/>
          </a:p>
        </p:txBody>
      </p:sp>
      <p:graphicFrame>
        <p:nvGraphicFramePr>
          <p:cNvPr id="5043" name="Таблица 5043"/>
          <p:cNvGraphicFramePr>
            <a:graphicFrameLocks noGrp="1"/>
          </p:cNvGraphicFramePr>
          <p:nvPr/>
        </p:nvGraphicFramePr>
        <p:xfrm>
          <a:off x="576075" y="3209884"/>
          <a:ext cx="4640000" cy="1800000"/>
        </p:xfrm>
        <a:graphic>
          <a:graphicData uri="http://schemas.openxmlformats.org/drawingml/2006/table">
            <a:tbl>
              <a:tblPr firstRow="1" bandRow="1"/>
              <a:tblGrid>
                <a:gridCol w="1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Ресурс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Минимум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00" b="1" dirty="0">
                          <a:solidFill>
                            <a:schemeClr val="bg1"/>
                          </a:solidFill>
                        </a:rPr>
                        <a:t>Рекомендуется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CPU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2 ядра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4 ядра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RAM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2 ГБ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4 ГБ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Диск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1 ГБ + результаты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SSD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не нужен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не нужен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2E6"/>
                      </a:solidFill>
                    </a:lnB>
                    <a:solidFill>
                      <a:srgbClr val="F4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44" name="Текст 5044"/>
          <p:cNvSpPr txBox="1"/>
          <p:nvPr/>
        </p:nvSpPr>
        <p:spPr>
          <a:xfrm>
            <a:off x="576075" y="5189884"/>
            <a:ext cx="464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050" dirty="0">
                <a:solidFill>
                  <a:schemeClr val="tx1"/>
                </a:solidFill>
              </a:rPr>
              <a:t>Docker-контейнер работает без сети; зависимости и базовый образ зафиксированы. Память — около 200 МБ плюс 0,5 МБ на каждый снимок пакета; результаты — около 0,9 МБ на снимок.</a:t>
            </a:r>
            <a:endParaRPr lang="ru-RU" sz="1050" dirty="0"/>
          </a:p>
        </p:txBody>
      </p:sp>
      <p:sp>
        <p:nvSpPr>
          <p:cNvPr id="5055" name="Карточка 5055"/>
          <p:cNvSpPr/>
          <p:nvPr/>
        </p:nvSpPr>
        <p:spPr>
          <a:xfrm>
            <a:off x="5674675" y="2589884"/>
            <a:ext cx="5996412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56" name="Заголовок карточки 5056"/>
          <p:cNvSpPr txBox="1"/>
          <p:nvPr/>
        </p:nvSpPr>
        <p:spPr>
          <a:xfrm>
            <a:off x="5904675" y="2789884"/>
            <a:ext cx="5536412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Ограничения решения</a:t>
            </a:r>
            <a:endParaRPr lang="ru-RU" sz="1500" dirty="0"/>
          </a:p>
        </p:txBody>
      </p:sp>
      <p:sp>
        <p:nvSpPr>
          <p:cNvPr id="5057" name="Текст 5057"/>
          <p:cNvSpPr txBox="1"/>
          <p:nvPr/>
        </p:nvSpPr>
        <p:spPr>
          <a:xfrm>
            <a:off x="5904675" y="3239884"/>
            <a:ext cx="5536412" cy="286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Один аппарат и 100 исследований </a:t>
            </a:r>
            <a:r>
              <a:rPr lang="ru-RU" sz="1250" dirty="0">
                <a:solidFill>
                  <a:schemeClr val="tx1"/>
                </a:solidFill>
              </a:rPr>
              <a:t>— нужна внешняя многоцентровая валидация.</a:t>
            </a:r>
            <a:endParaRPr lang="ru-RU" sz="1250" dirty="0"/>
          </a:p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Слабая разметка: </a:t>
            </a:r>
            <a:r>
              <a:rPr lang="ru-RU" sz="1250" dirty="0">
                <a:solidFill>
                  <a:schemeClr val="tx1"/>
                </a:solidFill>
              </a:rPr>
              <a:t>метка дана на исследование, а не на снимок.</a:t>
            </a:r>
            <a:endParaRPr lang="ru-RU" sz="1250" dirty="0"/>
          </a:p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Только прямые проекции в обучении: </a:t>
            </a:r>
            <a:r>
              <a:rPr lang="ru-RU" sz="1250" dirty="0">
                <a:solidFill>
                  <a:schemeClr val="tx1"/>
                </a:solidFill>
              </a:rPr>
              <a:t>боковые снимки распознаются и уходят на обязательную проверку специалистом.</a:t>
            </a:r>
            <a:endParaRPr lang="ru-RU" sz="1250" dirty="0"/>
          </a:p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Автоматическая разметка эвристическая: </a:t>
            </a:r>
            <a:r>
              <a:rPr lang="ru-RU" sz="1250" dirty="0">
                <a:solidFill>
                  <a:schemeClr val="tx1"/>
                </a:solidFill>
              </a:rPr>
              <a:t>эталона в данных нет.</a:t>
            </a:r>
            <a:endParaRPr lang="ru-RU" sz="1250" dirty="0"/>
          </a:p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Слабые места модели: </a:t>
            </a:r>
            <a:r>
              <a:rPr lang="ru-RU" sz="1250" dirty="0">
                <a:solidFill>
                  <a:schemeClr val="tx1"/>
                </a:solidFill>
              </a:rPr>
              <a:t>сколиоз, эндопротез.</a:t>
            </a:r>
            <a:endParaRPr lang="ru-RU" sz="1250" dirty="0"/>
          </a:p>
          <a:p>
            <a:pPr marL="171450" indent="-171450" algn="l">
              <a:lnSpc>
                <a:spcPct val="100000"/>
              </a:lnSpc>
              <a:spcAft>
                <a:spcPts val="7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50" b="1" dirty="0">
                <a:solidFill>
                  <a:schemeClr val="tx1"/>
                </a:solidFill>
              </a:rPr>
              <a:t>Окончательное решение </a:t>
            </a:r>
            <a:r>
              <a:rPr lang="ru-RU" sz="1250" dirty="0">
                <a:solidFill>
                  <a:schemeClr val="tx1"/>
                </a:solidFill>
              </a:rPr>
              <a:t>всегда принимает специалист.</a:t>
            </a:r>
            <a:endParaRPr lang="ru-RU" sz="1250" dirty="0"/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4322344" cy="376138"/>
          </a:xfrm>
        </p:spPr>
        <p:txBody>
          <a:bodyPr/>
          <a:lstStyle/>
          <a:p>
            <a:pPr algn="ctr">
              <a:defRPr/>
            </a:pPr>
            <a:r>
              <a:rPr lang="ru-RU" dirty="0"/>
              <a:t>СКОРОСТЬ И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926675" y="4315553"/>
            <a:ext cx="2772582" cy="234948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528780" y="4293283"/>
            <a:ext cx="2950059" cy="237175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425981" y="4293283"/>
            <a:ext cx="2950058" cy="2371752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43732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429141" y="1366572"/>
            <a:ext cx="11524339" cy="2812666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 rot="16200000">
            <a:off x="1303578" y="4486433"/>
            <a:ext cx="1568331" cy="192357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ИСХОДНЫЙ</a:t>
            </a: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 rot="16200000">
            <a:off x="3979419" y="5204424"/>
            <a:ext cx="2217885" cy="513784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ПОСЛЕ ОБРАБОТКИ</a:t>
            </a: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 rot="16200000">
            <a:off x="8013806" y="5124660"/>
            <a:ext cx="1940609" cy="589808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РУЧНАЯ ПРАВКА</a:t>
            </a: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1911"/>
            <a:ext cx="4044073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УНИКАЛЬНОСТЬ РЕШЕНИЯ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66575-0736-4DC6-A465-EB0BD5DEF786}"/>
              </a:ext>
            </a:extLst>
          </p:cNvPr>
          <p:cNvSpPr txBox="1"/>
          <p:nvPr/>
        </p:nvSpPr>
        <p:spPr>
          <a:xfrm>
            <a:off x="583007" y="1607873"/>
            <a:ext cx="1117985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solidFill>
                  <a:schemeClr val="bg1"/>
                </a:solidFill>
              </a:rPr>
              <a:t>Простой и интуитивный интерфейс</a:t>
            </a:r>
            <a:r>
              <a:rPr lang="ru-RU" sz="1100" dirty="0">
                <a:solidFill>
                  <a:schemeClr val="bg1"/>
                </a:solidFill>
              </a:rPr>
              <a:t> — минимум действий для просмотра и проверки исследования.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Высокая скорость обработки</a:t>
            </a:r>
            <a:r>
              <a:rPr lang="ru-RU" sz="1100" dirty="0">
                <a:solidFill>
                  <a:schemeClr val="bg1"/>
                </a:solidFill>
              </a:rPr>
              <a:t> DICOM-данных без длительного ожидания результатов.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Наглядная визуализация</a:t>
            </a:r>
            <a:r>
              <a:rPr lang="ru-RU" sz="1100" dirty="0">
                <a:solidFill>
                  <a:schemeClr val="bg1"/>
                </a:solidFill>
              </a:rPr>
              <a:t> — разметка, измерения и выявленные нарушения отображаются непосредственно поверх исходного DICOM-изображения.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Пакетная загрузка</a:t>
            </a:r>
            <a:r>
              <a:rPr lang="ru-RU" sz="1100" dirty="0">
                <a:solidFill>
                  <a:schemeClr val="bg1"/>
                </a:solidFill>
              </a:rPr>
              <a:t> — возможность одновременно загрузить массив исследований и последовательно работать с ними в едином интерфейсе.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Полноэкранный режим</a:t>
            </a:r>
            <a:r>
              <a:rPr lang="ru-RU" sz="1100" dirty="0">
                <a:solidFill>
                  <a:schemeClr val="bg1"/>
                </a:solidFill>
              </a:rPr>
              <a:t> для комфортного анализа изображений на диагностическом мониторе.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Управление с клавиатуры</a:t>
            </a:r>
            <a:r>
              <a:rPr lang="ru-RU" sz="1100" dirty="0">
                <a:solidFill>
                  <a:schemeClr val="bg1"/>
                </a:solidFill>
              </a:rPr>
              <a:t> — быстрое переключение между снимками и исследованиями без лишних действий мышью.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Гибкий экспорт</a:t>
            </a:r>
            <a:r>
              <a:rPr lang="ru-RU" sz="1100" dirty="0">
                <a:solidFill>
                  <a:schemeClr val="bg1"/>
                </a:solidFill>
              </a:rPr>
              <a:t> — сохранение одного, выбранных или всех обработанных исследований в удобном формате.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Локальное развертывание</a:t>
            </a:r>
            <a:r>
              <a:rPr lang="ru-RU" sz="1100" dirty="0">
                <a:solidFill>
                  <a:schemeClr val="bg1"/>
                </a:solidFill>
              </a:rPr>
              <a:t> — сервис быстро устанавливается во внутреннем контуре медицинской организации и может полностью работать </a:t>
            </a:r>
            <a:r>
              <a:rPr lang="ru-RU" sz="1100" b="1" dirty="0">
                <a:solidFill>
                  <a:schemeClr val="bg1"/>
                </a:solidFill>
              </a:rPr>
              <a:t>без доступа к сети Интернет</a:t>
            </a:r>
            <a:r>
              <a:rPr lang="ru-RU" sz="1100" dirty="0">
                <a:solidFill>
                  <a:schemeClr val="bg1"/>
                </a:solidFill>
              </a:rPr>
              <a:t>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Низкие требования к оборудованию</a:t>
            </a:r>
            <a:r>
              <a:rPr lang="ru-RU" sz="1100" dirty="0">
                <a:solidFill>
                  <a:schemeClr val="bg1"/>
                </a:solidFill>
              </a:rPr>
              <a:t> позволяют использовать существующие рабочие станции без дорогостоящей модернизации.</a:t>
            </a:r>
          </a:p>
          <a:p>
            <a:r>
              <a:rPr lang="ru-RU" sz="1100" b="1" dirty="0">
                <a:solidFill>
                  <a:schemeClr val="bg1"/>
                </a:solidFill>
              </a:rPr>
              <a:t>Основа для дообучения </a:t>
            </a:r>
            <a:r>
              <a:rPr lang="ru-RU" sz="1100" dirty="0">
                <a:solidFill>
                  <a:schemeClr val="bg1"/>
                </a:solidFill>
              </a:rPr>
              <a:t>— подтверждённые специалистом правки сохраняются в DICOM SR и разметке и могут войти в контролируемое дообучение с повторной валидацией.</a:t>
            </a:r>
          </a:p>
          <a:p>
            <a:endParaRPr lang="ru-RU" sz="1100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1B6E8F-A636-48CD-AE89-B9BF7962C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695" y="4303278"/>
            <a:ext cx="1308268" cy="23670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CD422-F2BA-46CE-9FF6-8A9ECAB95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661" y="4291913"/>
            <a:ext cx="1269197" cy="23728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FD5865-08D0-4CC8-9821-B4B68425A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037" y="4285046"/>
            <a:ext cx="1308268" cy="23865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55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3" name="Номер слайда 12">
            <a:extLst>
              <a:ext uri="{FF2B5EF4-FFF2-40B4-BE49-F238E27FC236}">
                <a16:creationId xmlns:a16="http://schemas.microsoft.com/office/drawing/2014/main" id="{A8A64C13-0D66-48C9-BEA5-56FD0564014C}"/>
              </a:ext>
            </a:extLst>
          </p:cNvPr>
          <p:cNvSpPr txBox="1">
            <a:spLocks/>
          </p:cNvSpPr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220" rtl="0">
              <a:defRPr sz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2DCC5B9-D646-4B76-891F-6FF4E74E9CB4}" type="slidenum">
              <a:rPr lang="ru-RU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3" name="Скругленный прямоугольник 9">
            <a:extLst>
              <a:ext uri="{FF2B5EF4-FFF2-40B4-BE49-F238E27FC236}">
                <a16:creationId xmlns:a16="http://schemas.microsoft.com/office/drawing/2014/main" id="{2F4DA60B-955D-4D16-88D5-26C2544CD267}"/>
              </a:ext>
            </a:extLst>
          </p:cNvPr>
          <p:cNvSpPr/>
          <p:nvPr/>
        </p:nvSpPr>
        <p:spPr bwMode="auto">
          <a:xfrm>
            <a:off x="346075" y="324562"/>
            <a:ext cx="43548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DF0D2B-A42F-4650-8FA0-220094F4A4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" r="584"/>
          <a:stretch/>
        </p:blipFill>
        <p:spPr>
          <a:xfrm>
            <a:off x="0" y="1321523"/>
            <a:ext cx="7549672" cy="4753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Заголовок 13">
            <a:extLst>
              <a:ext uri="{FF2B5EF4-FFF2-40B4-BE49-F238E27FC236}">
                <a16:creationId xmlns:a16="http://schemas.microsoft.com/office/drawing/2014/main" id="{69A94EA9-F3D4-4CCC-BAFD-8B469F7CCEF2}"/>
              </a:ext>
            </a:extLst>
          </p:cNvPr>
          <p:cNvSpPr txBox="1">
            <a:spLocks/>
          </p:cNvSpPr>
          <p:nvPr/>
        </p:nvSpPr>
        <p:spPr bwMode="auto">
          <a:xfrm>
            <a:off x="525817" y="451911"/>
            <a:ext cx="4044073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Montserrat"/>
              </a:defRPr>
            </a:lvl1pPr>
          </a:lstStyle>
          <a:p>
            <a:pPr algn="ctr">
              <a:defRPr/>
            </a:pPr>
            <a:r>
              <a:rPr lang="ru-RU" dirty="0"/>
              <a:t>ВИЗУАЛ РЕШЕНИЯ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9EF470-F43C-492B-80C0-279C5D5D4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595" y="2099605"/>
            <a:ext cx="6178112" cy="4753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3652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59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001" name="Карточка 5001"/>
          <p:cNvSpPr/>
          <p:nvPr/>
        </p:nvSpPr>
        <p:spPr>
          <a:xfrm>
            <a:off x="346075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2" name="Показатель 5002"/>
          <p:cNvSpPr txBox="1"/>
          <p:nvPr/>
        </p:nvSpPr>
        <p:spPr>
          <a:xfrm>
            <a:off x="546075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2000" b="1" dirty="0">
                <a:solidFill>
                  <a:schemeClr val="accent1"/>
                </a:solidFill>
              </a:rPr>
              <a:t>01 Пилот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1–2 клиники, одно рабочее место</a:t>
            </a:r>
            <a:endParaRPr lang="ru-RU" sz="1100" dirty="0"/>
          </a:p>
        </p:txBody>
      </p:sp>
      <p:sp>
        <p:nvSpPr>
          <p:cNvPr id="5003" name="Карточка 5003"/>
          <p:cNvSpPr/>
          <p:nvPr/>
        </p:nvSpPr>
        <p:spPr>
          <a:xfrm>
            <a:off x="3234478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4" name="Показатель 5004"/>
          <p:cNvSpPr txBox="1"/>
          <p:nvPr/>
        </p:nvSpPr>
        <p:spPr>
          <a:xfrm>
            <a:off x="3434478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2000" b="1" dirty="0">
                <a:solidFill>
                  <a:schemeClr val="accent1"/>
                </a:solidFill>
              </a:rPr>
              <a:t>02 Валидация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аппараты других производителей</a:t>
            </a:r>
            <a:endParaRPr lang="ru-RU" sz="1100" dirty="0"/>
          </a:p>
        </p:txBody>
      </p:sp>
      <p:sp>
        <p:nvSpPr>
          <p:cNvPr id="5005" name="Карточка 5005"/>
          <p:cNvSpPr/>
          <p:nvPr/>
        </p:nvSpPr>
        <p:spPr>
          <a:xfrm>
            <a:off x="6122881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6" name="Показатель 5006"/>
          <p:cNvSpPr txBox="1"/>
          <p:nvPr/>
        </p:nvSpPr>
        <p:spPr>
          <a:xfrm>
            <a:off x="6322881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2000" b="1" dirty="0">
                <a:solidFill>
                  <a:schemeClr val="accent1"/>
                </a:solidFill>
              </a:rPr>
              <a:t>03 Протоколы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 err="1">
                <a:solidFill>
                  <a:schemeClr val="tx1"/>
                </a:solidFill>
              </a:rPr>
              <a:t>боковые проекции и другие протоколы DXA</a:t>
            </a:r>
            <a:endParaRPr lang="ru-RU" sz="1100" dirty="0"/>
          </a:p>
        </p:txBody>
      </p:sp>
      <p:sp>
        <p:nvSpPr>
          <p:cNvPr id="5007" name="Карточка 5007"/>
          <p:cNvSpPr/>
          <p:nvPr/>
        </p:nvSpPr>
        <p:spPr>
          <a:xfrm>
            <a:off x="9011284" y="1211284"/>
            <a:ext cx="2659803" cy="1150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08" name="Показатель 5008"/>
          <p:cNvSpPr txBox="1"/>
          <p:nvPr/>
        </p:nvSpPr>
        <p:spPr>
          <a:xfrm>
            <a:off x="9211284" y="1361284"/>
            <a:ext cx="2259803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ru-RU" sz="2000" b="1" dirty="0">
                <a:solidFill>
                  <a:schemeClr val="accent1"/>
                </a:solidFill>
              </a:rPr>
              <a:t>04 Интеграция</a:t>
            </a:r>
            <a:endParaRPr lang="ru-RU" sz="3000" dirty="0"/>
          </a:p>
          <a:p>
            <a:pPr algn="l">
              <a:lnSpc>
                <a:spcPct val="95000"/>
              </a:lnSpc>
              <a:spcAft>
                <a:spcPts val="0"/>
              </a:spcAft>
              <a:buNone/>
            </a:pPr>
            <a:r>
              <a:rPr lang="ru-RU" sz="1100" dirty="0">
                <a:solidFill>
                  <a:schemeClr val="tx1"/>
                </a:solidFill>
              </a:rPr>
              <a:t>PACS и RIS в контуре клиники</a:t>
            </a:r>
            <a:endParaRPr lang="ru-RU" sz="1100" dirty="0"/>
          </a:p>
        </p:txBody>
      </p:sp>
      <p:sp>
        <p:nvSpPr>
          <p:cNvPr id="5009" name="Карточка 5009"/>
          <p:cNvSpPr/>
          <p:nvPr/>
        </p:nvSpPr>
        <p:spPr>
          <a:xfrm>
            <a:off x="346075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10" name="Заголовок карточки 5010"/>
          <p:cNvSpPr txBox="1"/>
          <p:nvPr/>
        </p:nvSpPr>
        <p:spPr>
          <a:xfrm>
            <a:off x="606075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Развитие модели</a:t>
            </a:r>
            <a:endParaRPr lang="ru-RU" sz="1500" dirty="0"/>
          </a:p>
        </p:txBody>
      </p:sp>
      <p:sp>
        <p:nvSpPr>
          <p:cNvPr id="5011" name="Текст 5011"/>
          <p:cNvSpPr txBox="1"/>
          <p:nvPr/>
        </p:nvSpPr>
        <p:spPr>
          <a:xfrm>
            <a:off x="606075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Внешняя валидация: </a:t>
            </a:r>
            <a:r>
              <a:rPr lang="ru-RU" sz="1200" dirty="0">
                <a:solidFill>
                  <a:schemeClr val="tx1"/>
                </a:solidFill>
              </a:rPr>
              <a:t>исследования с аппаратов других производителей, перекалибровка размера пикселя и определения области.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Контролируемое дообучение: </a:t>
            </a:r>
            <a:r>
              <a:rPr lang="ru-RU" sz="1200" dirty="0">
                <a:solidFill>
                  <a:schemeClr val="tx1"/>
                </a:solidFill>
              </a:rPr>
              <a:t>подтверждённые специалистом правки → новый набор данных → повторная валидация → новая версия модели.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Боковые проекции: </a:t>
            </a:r>
            <a:r>
              <a:rPr lang="ru-RU" sz="1200" dirty="0">
                <a:solidFill>
                  <a:schemeClr val="tx1"/>
                </a:solidFill>
              </a:rPr>
              <a:t>обучение на LAT-снимках вместо обязательной ручной проверки.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Слабые места: </a:t>
            </a:r>
            <a:r>
              <a:rPr lang="ru-RU" sz="1200" dirty="0">
                <a:solidFill>
                  <a:schemeClr val="tx1"/>
                </a:solidFill>
              </a:rPr>
              <a:t>отдельная обработка сколиоза и эндопротезов.</a:t>
            </a:r>
            <a:endParaRPr lang="ru-RU" sz="1200" dirty="0"/>
          </a:p>
        </p:txBody>
      </p:sp>
      <p:sp>
        <p:nvSpPr>
          <p:cNvPr id="5012" name="Карточка 5012"/>
          <p:cNvSpPr/>
          <p:nvPr/>
        </p:nvSpPr>
        <p:spPr>
          <a:xfrm>
            <a:off x="6122881" y="2589884"/>
            <a:ext cx="5548206" cy="3610892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5013" name="Заголовок карточки 5013"/>
          <p:cNvSpPr txBox="1"/>
          <p:nvPr/>
        </p:nvSpPr>
        <p:spPr>
          <a:xfrm>
            <a:off x="6382881" y="2819884"/>
            <a:ext cx="5028206" cy="3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accent5"/>
                </a:solidFill>
              </a:rPr>
              <a:t>Развитие продукта</a:t>
            </a:r>
            <a:endParaRPr lang="ru-RU" sz="1500" dirty="0"/>
          </a:p>
        </p:txBody>
      </p:sp>
      <p:sp>
        <p:nvSpPr>
          <p:cNvPr id="5014" name="Текст 5014"/>
          <p:cNvSpPr txBox="1"/>
          <p:nvPr/>
        </p:nvSpPr>
        <p:spPr>
          <a:xfrm>
            <a:off x="6382881" y="3269884"/>
            <a:ext cx="5028206" cy="28108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Пилот: </a:t>
            </a:r>
            <a:r>
              <a:rPr lang="ru-RU" sz="1200" dirty="0">
                <a:solidFill>
                  <a:schemeClr val="tx1"/>
                </a:solidFill>
              </a:rPr>
              <a:t>время проверки, доля найденных ошибок и отзывы врачей на реальном потоке исследований.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Интеграция с PACS/RIS: </a:t>
            </a:r>
            <a:r>
              <a:rPr lang="ru-RU" sz="1200" dirty="0">
                <a:solidFill>
                  <a:schemeClr val="tx1"/>
                </a:solidFill>
              </a:rPr>
              <a:t>автоматический приём исследований и отправка DICOM SR и разметки обратно.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Аудит архива: </a:t>
            </a:r>
            <a:r>
              <a:rPr lang="ru-RU" sz="1200" dirty="0">
                <a:solidFill>
                  <a:schemeClr val="tx1"/>
                </a:solidFill>
              </a:rPr>
              <a:t>ретроспективная проверка качества и обучение персонала на типичных ошибках укладки.</a:t>
            </a:r>
            <a:endParaRPr lang="ru-RU" sz="1200" dirty="0"/>
          </a:p>
          <a:p>
            <a:pPr marL="171450" indent="-171450" algn="l">
              <a:lnSpc>
                <a:spcPct val="100000"/>
              </a:lnSpc>
              <a:spcAft>
                <a:spcPts val="600"/>
              </a:spcAft>
              <a:buClr>
                <a:schemeClr val="accent1"/>
              </a:buClr>
              <a:buFont typeface="Montserrat"/>
              <a:buChar char="•"/>
            </a:pPr>
            <a:r>
              <a:rPr lang="ru-RU" sz="1200" b="1" dirty="0">
                <a:solidFill>
                  <a:schemeClr val="tx1"/>
                </a:solidFill>
              </a:rPr>
              <a:t>Масштабирование: </a:t>
            </a:r>
            <a:r>
              <a:rPr lang="ru-RU" sz="1200" dirty="0">
                <a:solidFill>
                  <a:schemeClr val="tx1"/>
                </a:solidFill>
              </a:rPr>
              <a:t>сети клиник и встраиваемый модуль для производителей оборудования.</a:t>
            </a:r>
            <a:endParaRPr lang="ru-RU" sz="1200" dirty="0"/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5600000" cy="376138"/>
          </a:xfrm>
        </p:spPr>
        <p:txBody>
          <a:bodyPr/>
          <a:lstStyle/>
          <a:p>
            <a:pPr algn="ctr">
              <a:defRPr/>
            </a:pPr>
            <a:r>
              <a:rPr lang="ru-RU" dirty="0"/>
              <a:t>ПЛАНЫ ПО РАЗВИТИЮ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197953060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1970</Words>
  <Application>Microsoft Office PowerPoint</Application>
  <PresentationFormat>Широкоэкранный</PresentationFormat>
  <Paragraphs>269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Montserrat</vt:lpstr>
      <vt:lpstr>Wingdings</vt:lpstr>
      <vt:lpstr>Для Академия инноваторов 16_9</vt:lpstr>
      <vt:lpstr>ЭВЕКТИО</vt:lpstr>
      <vt:lpstr>КОМАНДА «ЭВЕКТИО»</vt:lpstr>
      <vt:lpstr>КОМАНДА «ЭВЕКТИО»</vt:lpstr>
      <vt:lpstr>КОМАНДА «ЭВЕКТИО»</vt:lpstr>
      <vt:lpstr>КОРОТКО О РЕШЕНИИ</vt:lpstr>
      <vt:lpstr>ПОДРОБНОЕ ОПИСАНИЕ РЕШЕНИЯ</vt:lpstr>
      <vt:lpstr>МАРКЕТИНГОВАЯ ЧАСТЬ РЕШЕНИЯ</vt:lpstr>
      <vt:lpstr>Презентация PowerPoint</vt:lpstr>
      <vt:lpstr>ТЕХНИЧЕСКАЯ ПРОРАБОТКА РЕШЕНИЯ</vt:lpstr>
      <vt:lpstr>Презентация PowerPoint</vt:lpstr>
      <vt:lpstr>ДАННЫЕ И ВАЛИДАЦИЯ</vt:lpstr>
      <vt:lpstr>МЕТРИКИ КАЧЕСТВА</vt:lpstr>
      <vt:lpstr>СКОРОСТЬ И ОГРАНИЧЕНИЯ</vt:lpstr>
      <vt:lpstr>УНИКАЛЬНОСТЬ РЕШЕНИЯ</vt:lpstr>
      <vt:lpstr>Презентация PowerPoint</vt:lpstr>
      <vt:lpstr>ПЛАНЫ ПО РАЗВИТИЮ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Zel</cp:lastModifiedBy>
  <cp:revision>141</cp:revision>
  <dcterms:created xsi:type="dcterms:W3CDTF">2023-05-15T07:36:23Z</dcterms:created>
  <dcterms:modified xsi:type="dcterms:W3CDTF">2026-09-29T09:32:09Z</dcterms:modified>
</cp:coreProperties>
</file>